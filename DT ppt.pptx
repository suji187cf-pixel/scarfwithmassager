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omments/comment1.xml" ContentType="application/vnd.openxmlformats-officedocument.presentationml.comment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48" r:id="rId1"/>
  </p:sldMasterIdLst>
  <p:notesMasterIdLst>
    <p:notesMasterId r:id="rId20"/>
  </p:notesMasterIdLst>
  <p:sldIdLst>
    <p:sldId id="280" r:id="rId2"/>
    <p:sldId id="258" r:id="rId3"/>
    <p:sldId id="259" r:id="rId4"/>
    <p:sldId id="260" r:id="rId5"/>
    <p:sldId id="262" r:id="rId6"/>
    <p:sldId id="263" r:id="rId7"/>
    <p:sldId id="285" r:id="rId8"/>
    <p:sldId id="286" r:id="rId9"/>
    <p:sldId id="264" r:id="rId10"/>
    <p:sldId id="288" r:id="rId11"/>
    <p:sldId id="271" r:id="rId12"/>
    <p:sldId id="289" r:id="rId13"/>
    <p:sldId id="290" r:id="rId14"/>
    <p:sldId id="267" r:id="rId15"/>
    <p:sldId id="287" r:id="rId16"/>
    <p:sldId id="268" r:id="rId17"/>
    <p:sldId id="283" r:id="rId18"/>
    <p:sldId id="270" r:id="rId19"/>
  </p:sldIdLst>
  <p:sldSz cx="12192000" cy="6858000"/>
  <p:notesSz cx="6858000" cy="9144000"/>
  <p:defaultTex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ranjan NJ" initials="nN"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94602" autoAdjust="0"/>
  </p:normalViewPr>
  <p:slideViewPr>
    <p:cSldViewPr snapToGrid="0">
      <p:cViewPr varScale="1">
        <p:scale>
          <a:sx n="70" d="100"/>
          <a:sy n="70" d="100"/>
        </p:scale>
        <p:origin x="840" y="72"/>
      </p:cViewPr>
      <p:guideLst/>
    </p:cSldViewPr>
  </p:slideViewPr>
  <p:outlineViewPr>
    <p:cViewPr>
      <p:scale>
        <a:sx n="33" d="100"/>
        <a:sy n="33" d="100"/>
      </p:scale>
      <p:origin x="0" y="-99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MATERIAL</c:v>
                </c:pt>
              </c:strCache>
            </c:strRef>
          </c:tx>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Pt>
          <c:dPt>
            <c:idx val="1"/>
            <c:bubble3D val="0"/>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dPt>
          <c:dPt>
            <c:idx val="2"/>
            <c:bubble3D val="0"/>
            <c:spPr>
              <a:solidFill>
                <a:schemeClr val="accent3">
                  <a:alpha val="90000"/>
                </a:schemeClr>
              </a:solidFill>
              <a:ln w="19050">
                <a:solidFill>
                  <a:schemeClr val="accent3">
                    <a:lumMod val="75000"/>
                  </a:schemeClr>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Pt>
          <c:dPt>
            <c:idx val="3"/>
            <c:bubble3D val="0"/>
            <c:spPr>
              <a:solidFill>
                <a:schemeClr val="accent4">
                  <a:alpha val="90000"/>
                </a:schemeClr>
              </a:solidFill>
              <a:ln w="19050">
                <a:solidFill>
                  <a:schemeClr val="accent4">
                    <a:lumMod val="75000"/>
                  </a:schemeClr>
                </a:solidFill>
              </a:ln>
              <a:effectLst>
                <a:innerShdw blurRad="114300">
                  <a:schemeClr val="accent4">
                    <a:lumMod val="75000"/>
                  </a:schemeClr>
                </a:innerShdw>
              </a:effectLst>
              <a:scene3d>
                <a:camera prst="orthographicFront"/>
                <a:lightRig rig="threePt" dir="t"/>
              </a:scene3d>
              <a:sp3d contourW="19050" prstMaterial="flat">
                <a:contourClr>
                  <a:schemeClr val="accent4">
                    <a:lumMod val="75000"/>
                  </a:schemeClr>
                </a:contourClr>
              </a:sp3d>
            </c:spPr>
          </c:dPt>
          <c:dPt>
            <c:idx val="4"/>
            <c:bubble3D val="0"/>
            <c:spPr>
              <a:solidFill>
                <a:schemeClr val="accent5">
                  <a:alpha val="90000"/>
                </a:schemeClr>
              </a:solidFill>
              <a:ln w="19050">
                <a:solidFill>
                  <a:schemeClr val="accent5">
                    <a:lumMod val="75000"/>
                  </a:schemeClr>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Pt>
          <c:dLbls>
            <c:dLbl>
              <c:idx val="0"/>
              <c:tx>
                <c:rich>
                  <a:bodyPr rot="0" spcFirstLastPara="1" vertOverflow="clip" horzOverflow="clip" vert="horz" wrap="square" lIns="38100" tIns="19050" rIns="38100" bIns="19050" anchor="ctr" anchorCtr="1">
                    <a:spAutoFit/>
                  </a:bodyPr>
                  <a:lstStyle/>
                  <a:p>
                    <a:pPr defTabSz="914400">
                      <a:defRPr lang="en-US" sz="1330" b="0" i="0" u="none" strike="noStrike" kern="1200" baseline="0">
                        <a:solidFill>
                          <a:schemeClr val="accent1"/>
                        </a:solidFill>
                        <a:effectLst/>
                        <a:latin typeface="+mn-lt"/>
                        <a:ea typeface="+mn-ea"/>
                        <a:cs typeface="+mn-cs"/>
                      </a:defRPr>
                    </a:pPr>
                    <a:r>
                      <a:rPr lang="en-US"/>
                      <a:t>COTTON,WOOL, 50, 50%</a:t>
                    </a:r>
                  </a:p>
                </c:rich>
              </c:tx>
              <c:spPr>
                <a:solidFill>
                  <a:schemeClr val="lt1">
                    <a:alpha val="90000"/>
                  </a:schemeClr>
                </a:solidFill>
                <a:ln w="12700" cap="flat" cmpd="sng" algn="ctr">
                  <a:solidFill>
                    <a:schemeClr val="accent1"/>
                  </a:solidFill>
                  <a:round/>
                </a:ln>
                <a:effectLst>
                  <a:outerShdw blurRad="50800" dist="38100" dir="2700000" algn="tl" rotWithShape="0">
                    <a:schemeClr val="accent1">
                      <a:lumMod val="75000"/>
                      <a:alpha val="40000"/>
                    </a:schemeClr>
                  </a:outerShdw>
                </a:effectLst>
              </c:spPr>
              <c:dLblPos val="inEnd"/>
              <c:showLegendKey val="0"/>
              <c:showVal val="1"/>
              <c:showCatName val="1"/>
              <c:showSerName val="0"/>
              <c:showPercent val="1"/>
              <c:showBubbleSize val="0"/>
              <c:extLst>
                <c:ext xmlns:c15="http://schemas.microsoft.com/office/drawing/2012/chart" uri="{CE6537A1-D6FC-4f65-9D91-7224C49458BB}"/>
              </c:extLst>
            </c:dLbl>
            <c:dLbl>
              <c:idx val="1"/>
              <c:tx>
                <c:rich>
                  <a:bodyPr rot="0" spcFirstLastPara="1" vertOverflow="clip" horzOverflow="clip" vert="horz" wrap="square" lIns="38100" tIns="19050" rIns="38100" bIns="19050" anchor="ctr" anchorCtr="1">
                    <a:spAutoFit/>
                  </a:bodyPr>
                  <a:lstStyle/>
                  <a:p>
                    <a:pPr defTabSz="914400">
                      <a:defRPr lang="en-US" sz="1330" b="0" i="0" u="none" strike="noStrike" kern="1200" baseline="0">
                        <a:solidFill>
                          <a:schemeClr val="accent2"/>
                        </a:solidFill>
                        <a:effectLst/>
                        <a:latin typeface="+mn-lt"/>
                        <a:ea typeface="+mn-ea"/>
                        <a:cs typeface="+mn-cs"/>
                      </a:defRPr>
                    </a:pPr>
                    <a:r>
                      <a:rPr lang="en-US"/>
                      <a:t>BATTERY 40, 40%</a:t>
                    </a:r>
                  </a:p>
                </c:rich>
              </c:tx>
              <c:spPr>
                <a:solidFill>
                  <a:schemeClr val="lt1">
                    <a:alpha val="90000"/>
                  </a:schemeClr>
                </a:solidFill>
                <a:ln w="12700" cap="flat" cmpd="sng" algn="ctr">
                  <a:solidFill>
                    <a:schemeClr val="accent2"/>
                  </a:solidFill>
                  <a:round/>
                </a:ln>
                <a:effectLst>
                  <a:outerShdw blurRad="50800" dist="38100" dir="2700000" algn="tl" rotWithShape="0">
                    <a:schemeClr val="accent2">
                      <a:lumMod val="75000"/>
                      <a:alpha val="40000"/>
                    </a:schemeClr>
                  </a:outerShdw>
                </a:effectLst>
              </c:spPr>
              <c:dLblPos val="inEnd"/>
              <c:showLegendKey val="0"/>
              <c:showVal val="1"/>
              <c:showCatName val="1"/>
              <c:showSerName val="0"/>
              <c:showPercent val="1"/>
              <c:showBubbleSize val="0"/>
              <c:extLst>
                <c:ext xmlns:c15="http://schemas.microsoft.com/office/drawing/2012/chart" uri="{CE6537A1-D6FC-4f65-9D91-7224C49458BB}"/>
              </c:extLst>
            </c:dLbl>
            <c:dLbl>
              <c:idx val="2"/>
              <c:spPr>
                <a:solidFill>
                  <a:schemeClr val="lt1">
                    <a:alpha val="90000"/>
                  </a:schemeClr>
                </a:solidFill>
                <a:ln w="12700" cap="flat" cmpd="sng" algn="ctr">
                  <a:solidFill>
                    <a:schemeClr val="accent3"/>
                  </a:solidFill>
                  <a:round/>
                </a:ln>
                <a:effectLst>
                  <a:outerShdw blurRad="50800" dist="38100" dir="2700000" algn="tl" rotWithShape="0">
                    <a:schemeClr val="accent3">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3"/>
                      </a:solidFill>
                      <a:effectLst/>
                      <a:latin typeface="+mn-lt"/>
                      <a:ea typeface="+mn-ea"/>
                      <a:cs typeface="+mn-cs"/>
                    </a:defRPr>
                  </a:pPr>
                  <a:endParaRPr lang="en-US"/>
                </a:p>
              </c:txPr>
              <c:dLblPos val="inEnd"/>
              <c:showLegendKey val="0"/>
              <c:showVal val="1"/>
              <c:showCatName val="1"/>
              <c:showSerName val="0"/>
              <c:showPercent val="1"/>
              <c:showBubbleSize val="0"/>
            </c:dLbl>
            <c:dLbl>
              <c:idx val="3"/>
              <c:spPr>
                <a:solidFill>
                  <a:schemeClr val="lt1">
                    <a:alpha val="90000"/>
                  </a:schemeClr>
                </a:solidFill>
                <a:ln w="12700" cap="flat" cmpd="sng" algn="ctr">
                  <a:solidFill>
                    <a:schemeClr val="accent4"/>
                  </a:solidFill>
                  <a:round/>
                </a:ln>
                <a:effectLst>
                  <a:outerShdw blurRad="50800" dist="38100" dir="2700000" algn="tl" rotWithShape="0">
                    <a:schemeClr val="accent4">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4"/>
                      </a:solidFill>
                      <a:effectLst/>
                      <a:latin typeface="+mn-lt"/>
                      <a:ea typeface="+mn-ea"/>
                      <a:cs typeface="+mn-cs"/>
                    </a:defRPr>
                  </a:pPr>
                  <a:endParaRPr lang="en-US"/>
                </a:p>
              </c:txPr>
              <c:dLblPos val="inEnd"/>
              <c:showLegendKey val="0"/>
              <c:showVal val="1"/>
              <c:showCatName val="1"/>
              <c:showSerName val="0"/>
              <c:showPercent val="1"/>
              <c:showBubbleSize val="0"/>
            </c:dLbl>
            <c:dLbl>
              <c:idx val="4"/>
              <c:spPr>
                <a:solidFill>
                  <a:schemeClr val="lt1">
                    <a:alpha val="90000"/>
                  </a:schemeClr>
                </a:solidFill>
                <a:ln w="12700" cap="flat" cmpd="sng" algn="ctr">
                  <a:solidFill>
                    <a:schemeClr val="accent5"/>
                  </a:solidFill>
                  <a:round/>
                </a:ln>
                <a:effectLst>
                  <a:outerShdw blurRad="50800" dist="38100" dir="2700000" algn="tl" rotWithShape="0">
                    <a:schemeClr val="accent5">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5"/>
                      </a:solidFill>
                      <a:effectLst/>
                      <a:latin typeface="+mn-lt"/>
                      <a:ea typeface="+mn-ea"/>
                      <a:cs typeface="+mn-cs"/>
                    </a:defRPr>
                  </a:pPr>
                  <a:endParaRPr lang="en-US"/>
                </a:p>
              </c:txPr>
              <c:dLblPos val="inEnd"/>
              <c:showLegendKey val="0"/>
              <c:showVal val="1"/>
              <c:showCatName val="1"/>
              <c:showSerName val="0"/>
              <c:showPercent val="1"/>
              <c:showBubbleSize val="0"/>
            </c:dLbl>
            <c:spPr>
              <a:solidFill>
                <a:srgbClr val="FFFFFF">
                  <a:alpha val="90000"/>
                </a:srgbClr>
              </a:solidFill>
              <a:ln w="12700" cap="flat" cmpd="sng" algn="ctr">
                <a:solidFill>
                  <a:srgbClr val="4472C4"/>
                </a:solidFill>
                <a:round/>
              </a:ln>
              <a:effectLst>
                <a:outerShdw blurRad="50800" dist="38100" dir="2700000" algn="tl" rotWithShape="0">
                  <a:srgbClr val="4472C4">
                    <a:lumMod val="75000"/>
                    <a:alpha val="40000"/>
                  </a:srgb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Sheet1!$A$2:$A$6</c:f>
              <c:strCache>
                <c:ptCount val="3"/>
                <c:pt idx="0">
                  <c:v>MATERIAL METAL</c:v>
                </c:pt>
                <c:pt idx="1">
                  <c:v>MATERIAL SILICONE</c:v>
                </c:pt>
                <c:pt idx="2">
                  <c:v>OTHERS</c:v>
                </c:pt>
              </c:strCache>
            </c:strRef>
          </c:cat>
          <c:val>
            <c:numRef>
              <c:f>Sheet1!$B$2:$B$6</c:f>
              <c:numCache>
                <c:formatCode>General</c:formatCode>
                <c:ptCount val="5"/>
                <c:pt idx="0">
                  <c:v>50</c:v>
                </c:pt>
                <c:pt idx="1">
                  <c:v>40</c:v>
                </c:pt>
                <c:pt idx="2">
                  <c:v>10</c:v>
                </c:pt>
              </c:numCache>
            </c:numRef>
          </c:val>
        </c:ser>
        <c:dLbls>
          <c:showLegendKey val="0"/>
          <c:showVal val="0"/>
          <c:showCatName val="0"/>
          <c:showSerName val="0"/>
          <c:showPercent val="1"/>
          <c:showBubbleSize val="0"/>
          <c:showLeaderLines val="1"/>
        </c:dLbls>
      </c:pie3DChart>
      <c:spPr>
        <a:noFill/>
        <a:ln>
          <a:noFill/>
        </a:ln>
        <a:effectLst/>
      </c:spPr>
    </c:plotArea>
    <c:plotVisOnly val="1"/>
    <c:dispBlanksAs val="gap"/>
    <c:showDLblsOverMax val="0"/>
    <c:extLst>
      <c:ext uri="{0b15fc19-7d7d-44ad-8c2d-2c3a37ce22c3}">
        <chartProps xmlns="https://web.wps.cn/et/2018/main" chartId="{9064347c-a5e6-495e-a19e-a9ae0d42f3d4}"/>
      </c:ext>
    </c:extLst>
  </c:chart>
  <c:spPr>
    <a:noFill/>
    <a:ln>
      <a:noFill/>
    </a:ln>
    <a:effectLst/>
  </c:spPr>
  <c:txPr>
    <a:bodyPr/>
    <a:lstStyle/>
    <a:p>
      <a:pPr>
        <a:defRPr lang="en-US"/>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Column1</c:v>
                </c:pt>
              </c:strCache>
            </c:strRef>
          </c:tx>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Pt>
          <c:dPt>
            <c:idx val="1"/>
            <c:bubble3D val="0"/>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dPt>
          <c:dPt>
            <c:idx val="2"/>
            <c:bubble3D val="0"/>
            <c:spPr>
              <a:solidFill>
                <a:schemeClr val="accent3">
                  <a:alpha val="90000"/>
                </a:schemeClr>
              </a:solidFill>
              <a:ln w="19050">
                <a:solidFill>
                  <a:schemeClr val="accent3">
                    <a:lumMod val="75000"/>
                  </a:schemeClr>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Pt>
          <c:dPt>
            <c:idx val="3"/>
            <c:bubble3D val="0"/>
            <c:spPr>
              <a:solidFill>
                <a:schemeClr val="accent4">
                  <a:alpha val="90000"/>
                </a:schemeClr>
              </a:solidFill>
              <a:ln w="19050">
                <a:solidFill>
                  <a:schemeClr val="accent4">
                    <a:lumMod val="75000"/>
                  </a:schemeClr>
                </a:solidFill>
              </a:ln>
              <a:effectLst>
                <a:innerShdw blurRad="114300">
                  <a:schemeClr val="accent4">
                    <a:lumMod val="75000"/>
                  </a:schemeClr>
                </a:innerShdw>
              </a:effectLst>
              <a:scene3d>
                <a:camera prst="orthographicFront"/>
                <a:lightRig rig="threePt" dir="t"/>
              </a:scene3d>
              <a:sp3d contourW="19050" prstMaterial="flat">
                <a:contourClr>
                  <a:schemeClr val="accent4">
                    <a:lumMod val="75000"/>
                  </a:schemeClr>
                </a:contourClr>
              </a:sp3d>
            </c:spPr>
          </c:dPt>
          <c:dPt>
            <c:idx val="4"/>
            <c:bubble3D val="0"/>
            <c:spPr>
              <a:solidFill>
                <a:schemeClr val="accent5">
                  <a:alpha val="90000"/>
                </a:schemeClr>
              </a:solidFill>
              <a:ln w="19050">
                <a:solidFill>
                  <a:schemeClr val="accent5">
                    <a:lumMod val="75000"/>
                  </a:schemeClr>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Pt>
          <c:dLbls>
            <c:dLbl>
              <c:idx val="0"/>
              <c:layout>
                <c:manualLayout>
                  <c:x val="-1.34114143698967E-2"/>
                  <c:y val="-0.25724046634417302"/>
                </c:manualLayout>
              </c:layout>
              <c:tx>
                <c:rich>
                  <a:bodyPr rot="0" spcFirstLastPara="1" vertOverflow="clip" horzOverflow="clip" vert="horz" wrap="square" lIns="38100" tIns="19050" rIns="38100" bIns="19050" anchor="ctr" anchorCtr="1">
                    <a:spAutoFit/>
                  </a:bodyPr>
                  <a:lstStyle/>
                  <a:p>
                    <a:pPr defTabSz="914400">
                      <a:defRPr lang="en-US" sz="1330" b="0" i="0" u="none" strike="noStrike" kern="1200" baseline="0">
                        <a:solidFill>
                          <a:schemeClr val="accent1"/>
                        </a:solidFill>
                        <a:effectLst/>
                        <a:latin typeface="+mn-lt"/>
                        <a:ea typeface="+mn-ea"/>
                        <a:cs typeface="+mn-cs"/>
                      </a:defRPr>
                    </a:pPr>
                    <a:r>
                      <a:rPr lang="en-US"/>
                      <a:t>PRICE 50-100(in rupees), 99, 99%</a:t>
                    </a:r>
                  </a:p>
                </c:rich>
              </c:tx>
              <c:spPr>
                <a:solidFill>
                  <a:schemeClr val="lt1">
                    <a:alpha val="90000"/>
                  </a:schemeClr>
                </a:solidFill>
                <a:ln w="12700" cap="flat" cmpd="sng" algn="ctr">
                  <a:solidFill>
                    <a:schemeClr val="accent1"/>
                  </a:solidFill>
                  <a:round/>
                </a:ln>
                <a:effectLst>
                  <a:outerShdw blurRad="50800" dist="38100" dir="2700000" algn="tl" rotWithShape="0">
                    <a:schemeClr val="accent1">
                      <a:lumMod val="75000"/>
                      <a:alpha val="40000"/>
                    </a:schemeClr>
                  </a:outerShdw>
                </a:effectLst>
              </c:spPr>
              <c:dLblPos val="bestFit"/>
              <c:showLegendKey val="0"/>
              <c:showVal val="1"/>
              <c:showCatName val="1"/>
              <c:showSerName val="0"/>
              <c:showPercent val="1"/>
              <c:showBubbleSize val="0"/>
              <c:extLst>
                <c:ext xmlns:c15="http://schemas.microsoft.com/office/drawing/2012/chart" uri="{CE6537A1-D6FC-4f65-9D91-7224C49458BB}"/>
              </c:extLst>
            </c:dLbl>
            <c:dLbl>
              <c:idx val="1"/>
              <c:spPr>
                <a:solidFill>
                  <a:schemeClr val="lt1">
                    <a:alpha val="90000"/>
                  </a:schemeClr>
                </a:solidFill>
                <a:ln w="12700" cap="flat" cmpd="sng" algn="ctr">
                  <a:solidFill>
                    <a:schemeClr val="accent2"/>
                  </a:solidFill>
                  <a:round/>
                </a:ln>
                <a:effectLst>
                  <a:outerShdw blurRad="50800" dist="38100" dir="2700000" algn="tl" rotWithShape="0">
                    <a:schemeClr val="accent2">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2"/>
                      </a:solidFill>
                      <a:effectLst/>
                      <a:latin typeface="+mn-lt"/>
                      <a:ea typeface="+mn-ea"/>
                      <a:cs typeface="+mn-cs"/>
                    </a:defRPr>
                  </a:pPr>
                  <a:endParaRPr lang="en-US"/>
                </a:p>
              </c:txPr>
              <c:dLblPos val="inEnd"/>
              <c:showLegendKey val="0"/>
              <c:showVal val="1"/>
              <c:showCatName val="1"/>
              <c:showSerName val="0"/>
              <c:showPercent val="1"/>
              <c:showBubbleSize val="0"/>
            </c:dLbl>
            <c:dLbl>
              <c:idx val="2"/>
              <c:spPr>
                <a:solidFill>
                  <a:schemeClr val="lt1">
                    <a:alpha val="90000"/>
                  </a:schemeClr>
                </a:solidFill>
                <a:ln w="12700" cap="flat" cmpd="sng" algn="ctr">
                  <a:solidFill>
                    <a:schemeClr val="accent3"/>
                  </a:solidFill>
                  <a:round/>
                </a:ln>
                <a:effectLst>
                  <a:outerShdw blurRad="50800" dist="38100" dir="2700000" algn="tl" rotWithShape="0">
                    <a:schemeClr val="accent3">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3"/>
                      </a:solidFill>
                      <a:effectLst/>
                      <a:latin typeface="+mn-lt"/>
                      <a:ea typeface="+mn-ea"/>
                      <a:cs typeface="+mn-cs"/>
                    </a:defRPr>
                  </a:pPr>
                  <a:endParaRPr lang="en-US"/>
                </a:p>
              </c:txPr>
              <c:dLblPos val="inEnd"/>
              <c:showLegendKey val="0"/>
              <c:showVal val="1"/>
              <c:showCatName val="1"/>
              <c:showSerName val="0"/>
              <c:showPercent val="1"/>
              <c:showBubbleSize val="0"/>
            </c:dLbl>
            <c:dLbl>
              <c:idx val="3"/>
              <c:spPr>
                <a:solidFill>
                  <a:schemeClr val="lt1">
                    <a:alpha val="90000"/>
                  </a:schemeClr>
                </a:solidFill>
                <a:ln w="12700" cap="flat" cmpd="sng" algn="ctr">
                  <a:solidFill>
                    <a:schemeClr val="accent4"/>
                  </a:solidFill>
                  <a:round/>
                </a:ln>
                <a:effectLst>
                  <a:outerShdw blurRad="50800" dist="38100" dir="2700000" algn="tl" rotWithShape="0">
                    <a:schemeClr val="accent4">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4"/>
                      </a:solidFill>
                      <a:effectLst/>
                      <a:latin typeface="+mn-lt"/>
                      <a:ea typeface="+mn-ea"/>
                      <a:cs typeface="+mn-cs"/>
                    </a:defRPr>
                  </a:pPr>
                  <a:endParaRPr lang="en-US"/>
                </a:p>
              </c:txPr>
              <c:dLblPos val="inEnd"/>
              <c:showLegendKey val="0"/>
              <c:showVal val="1"/>
              <c:showCatName val="1"/>
              <c:showSerName val="0"/>
              <c:showPercent val="1"/>
              <c:showBubbleSize val="0"/>
            </c:dLbl>
            <c:dLbl>
              <c:idx val="4"/>
              <c:spPr>
                <a:solidFill>
                  <a:schemeClr val="lt1">
                    <a:alpha val="90000"/>
                  </a:schemeClr>
                </a:solidFill>
                <a:ln w="12700" cap="flat" cmpd="sng" algn="ctr">
                  <a:solidFill>
                    <a:schemeClr val="accent5"/>
                  </a:solidFill>
                  <a:round/>
                </a:ln>
                <a:effectLst>
                  <a:outerShdw blurRad="50800" dist="38100" dir="2700000" algn="tl" rotWithShape="0">
                    <a:schemeClr val="accent5">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5"/>
                      </a:solidFill>
                      <a:effectLst/>
                      <a:latin typeface="+mn-lt"/>
                      <a:ea typeface="+mn-ea"/>
                      <a:cs typeface="+mn-cs"/>
                    </a:defRPr>
                  </a:pPr>
                  <a:endParaRPr lang="en-US"/>
                </a:p>
              </c:txPr>
              <c:dLblPos val="inEnd"/>
              <c:showLegendKey val="0"/>
              <c:showVal val="1"/>
              <c:showCatName val="1"/>
              <c:showSerName val="0"/>
              <c:showPercent val="1"/>
              <c:showBubbleSize val="0"/>
            </c:dLbl>
            <c:spPr>
              <a:solidFill>
                <a:srgbClr val="FFFFFF">
                  <a:alpha val="90000"/>
                </a:srgbClr>
              </a:solidFill>
              <a:ln w="12700" cap="flat" cmpd="sng" algn="ctr">
                <a:solidFill>
                  <a:srgbClr val="4472C4"/>
                </a:solidFill>
                <a:round/>
              </a:ln>
              <a:effectLst>
                <a:outerShdw blurRad="50800" dist="38100" dir="2700000" algn="tl" rotWithShape="0">
                  <a:srgbClr val="4472C4">
                    <a:lumMod val="75000"/>
                    <a:alpha val="40000"/>
                  </a:srgb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Sheet1!$A$2:$A$6</c:f>
              <c:strCache>
                <c:ptCount val="2"/>
                <c:pt idx="0">
                  <c:v>PRICE 50$-100$</c:v>
                </c:pt>
                <c:pt idx="1">
                  <c:v>OTHER</c:v>
                </c:pt>
              </c:strCache>
            </c:strRef>
          </c:cat>
          <c:val>
            <c:numRef>
              <c:f>Sheet1!$B$2:$B$6</c:f>
              <c:numCache>
                <c:formatCode>General</c:formatCode>
                <c:ptCount val="5"/>
                <c:pt idx="0">
                  <c:v>99</c:v>
                </c:pt>
                <c:pt idx="1">
                  <c:v>1</c:v>
                </c:pt>
              </c:numCache>
            </c:numRef>
          </c:val>
        </c:ser>
        <c:dLbls>
          <c:showLegendKey val="0"/>
          <c:showVal val="0"/>
          <c:showCatName val="0"/>
          <c:showSerName val="0"/>
          <c:showPercent val="1"/>
          <c:showBubbleSize val="0"/>
          <c:showLeaderLines val="1"/>
        </c:dLbls>
      </c:pie3DChart>
      <c:spPr>
        <a:noFill/>
        <a:ln>
          <a:noFill/>
        </a:ln>
        <a:effectLst/>
      </c:spPr>
    </c:plotArea>
    <c:plotVisOnly val="1"/>
    <c:dispBlanksAs val="gap"/>
    <c:showDLblsOverMax val="0"/>
    <c:extLst>
      <c:ext uri="{0b15fc19-7d7d-44ad-8c2d-2c3a37ce22c3}">
        <chartProps xmlns="https://web.wps.cn/et/2018/main" chartId="{fc64c0d6-00a9-42a7-ad75-7e37b7ae2ba9}"/>
      </c:ext>
    </c:extLst>
  </c:chart>
  <c:spPr>
    <a:noFill/>
    <a:ln>
      <a:noFill/>
    </a:ln>
    <a:effectLst/>
  </c:spPr>
  <c:txPr>
    <a:bodyPr/>
    <a:lstStyle/>
    <a:p>
      <a:pPr>
        <a:defRPr lang="en-US"/>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Column1</c:v>
                </c:pt>
              </c:strCache>
            </c:strRef>
          </c:tx>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Pt>
          <c:dPt>
            <c:idx val="1"/>
            <c:bubble3D val="0"/>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dPt>
          <c:dPt>
            <c:idx val="2"/>
            <c:bubble3D val="0"/>
            <c:spPr>
              <a:solidFill>
                <a:schemeClr val="accent3">
                  <a:alpha val="90000"/>
                </a:schemeClr>
              </a:solidFill>
              <a:ln w="19050">
                <a:solidFill>
                  <a:schemeClr val="accent3">
                    <a:lumMod val="75000"/>
                  </a:schemeClr>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Pt>
          <c:dPt>
            <c:idx val="3"/>
            <c:bubble3D val="0"/>
            <c:spPr>
              <a:solidFill>
                <a:schemeClr val="accent4">
                  <a:alpha val="90000"/>
                </a:schemeClr>
              </a:solidFill>
              <a:ln w="19050">
                <a:solidFill>
                  <a:schemeClr val="accent4">
                    <a:lumMod val="75000"/>
                  </a:schemeClr>
                </a:solidFill>
              </a:ln>
              <a:effectLst>
                <a:innerShdw blurRad="114300">
                  <a:schemeClr val="accent4">
                    <a:lumMod val="75000"/>
                  </a:schemeClr>
                </a:innerShdw>
              </a:effectLst>
              <a:scene3d>
                <a:camera prst="orthographicFront"/>
                <a:lightRig rig="threePt" dir="t"/>
              </a:scene3d>
              <a:sp3d contourW="19050" prstMaterial="flat">
                <a:contourClr>
                  <a:schemeClr val="accent4">
                    <a:lumMod val="75000"/>
                  </a:schemeClr>
                </a:contourClr>
              </a:sp3d>
            </c:spPr>
          </c:dPt>
          <c:dPt>
            <c:idx val="4"/>
            <c:bubble3D val="0"/>
            <c:spPr>
              <a:solidFill>
                <a:schemeClr val="accent5">
                  <a:alpha val="90000"/>
                </a:schemeClr>
              </a:solidFill>
              <a:ln w="19050">
                <a:solidFill>
                  <a:schemeClr val="accent5">
                    <a:lumMod val="75000"/>
                  </a:schemeClr>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Pt>
          <c:dLbls>
            <c:dLbl>
              <c:idx val="0"/>
              <c:spPr>
                <a:solidFill>
                  <a:schemeClr val="lt1">
                    <a:alpha val="90000"/>
                  </a:schemeClr>
                </a:solidFill>
                <a:ln w="12700" cap="flat" cmpd="sng" algn="ctr">
                  <a:solidFill>
                    <a:schemeClr val="accent1"/>
                  </a:solidFill>
                  <a:round/>
                </a:ln>
                <a:effectLst>
                  <a:outerShdw blurRad="50800" dist="38100" dir="2700000" algn="tl" rotWithShape="0">
                    <a:schemeClr val="accent1">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dLbl>
            <c:dLbl>
              <c:idx val="1"/>
              <c:spPr>
                <a:solidFill>
                  <a:schemeClr val="lt1">
                    <a:alpha val="90000"/>
                  </a:schemeClr>
                </a:solidFill>
                <a:ln w="12700" cap="flat" cmpd="sng" algn="ctr">
                  <a:solidFill>
                    <a:schemeClr val="accent2"/>
                  </a:solidFill>
                  <a:round/>
                </a:ln>
                <a:effectLst>
                  <a:outerShdw blurRad="50800" dist="38100" dir="2700000" algn="tl" rotWithShape="0">
                    <a:schemeClr val="accent2">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2"/>
                      </a:solidFill>
                      <a:effectLst/>
                      <a:latin typeface="+mn-lt"/>
                      <a:ea typeface="+mn-ea"/>
                      <a:cs typeface="+mn-cs"/>
                    </a:defRPr>
                  </a:pPr>
                  <a:endParaRPr lang="en-US"/>
                </a:p>
              </c:txPr>
              <c:dLblPos val="inEnd"/>
              <c:showLegendKey val="0"/>
              <c:showVal val="1"/>
              <c:showCatName val="1"/>
              <c:showSerName val="0"/>
              <c:showPercent val="1"/>
              <c:showBubbleSize val="0"/>
            </c:dLbl>
            <c:dLbl>
              <c:idx val="2"/>
              <c:spPr>
                <a:solidFill>
                  <a:schemeClr val="lt1">
                    <a:alpha val="90000"/>
                  </a:schemeClr>
                </a:solidFill>
                <a:ln w="12700" cap="flat" cmpd="sng" algn="ctr">
                  <a:solidFill>
                    <a:schemeClr val="accent3"/>
                  </a:solidFill>
                  <a:round/>
                </a:ln>
                <a:effectLst>
                  <a:outerShdw blurRad="50800" dist="38100" dir="2700000" algn="tl" rotWithShape="0">
                    <a:schemeClr val="accent3">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3"/>
                      </a:solidFill>
                      <a:effectLst/>
                      <a:latin typeface="+mn-lt"/>
                      <a:ea typeface="+mn-ea"/>
                      <a:cs typeface="+mn-cs"/>
                    </a:defRPr>
                  </a:pPr>
                  <a:endParaRPr lang="en-US"/>
                </a:p>
              </c:txPr>
              <c:dLblPos val="inEnd"/>
              <c:showLegendKey val="0"/>
              <c:showVal val="1"/>
              <c:showCatName val="1"/>
              <c:showSerName val="0"/>
              <c:showPercent val="1"/>
              <c:showBubbleSize val="0"/>
            </c:dLbl>
            <c:dLbl>
              <c:idx val="3"/>
              <c:spPr>
                <a:solidFill>
                  <a:schemeClr val="lt1">
                    <a:alpha val="90000"/>
                  </a:schemeClr>
                </a:solidFill>
                <a:ln w="12700" cap="flat" cmpd="sng" algn="ctr">
                  <a:solidFill>
                    <a:schemeClr val="accent4"/>
                  </a:solidFill>
                  <a:round/>
                </a:ln>
                <a:effectLst>
                  <a:outerShdw blurRad="50800" dist="38100" dir="2700000" algn="tl" rotWithShape="0">
                    <a:schemeClr val="accent4">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4"/>
                      </a:solidFill>
                      <a:effectLst/>
                      <a:latin typeface="+mn-lt"/>
                      <a:ea typeface="+mn-ea"/>
                      <a:cs typeface="+mn-cs"/>
                    </a:defRPr>
                  </a:pPr>
                  <a:endParaRPr lang="en-US"/>
                </a:p>
              </c:txPr>
              <c:dLblPos val="inEnd"/>
              <c:showLegendKey val="0"/>
              <c:showVal val="1"/>
              <c:showCatName val="1"/>
              <c:showSerName val="0"/>
              <c:showPercent val="1"/>
              <c:showBubbleSize val="0"/>
            </c:dLbl>
            <c:dLbl>
              <c:idx val="4"/>
              <c:spPr>
                <a:solidFill>
                  <a:schemeClr val="lt1">
                    <a:alpha val="90000"/>
                  </a:schemeClr>
                </a:solidFill>
                <a:ln w="12700" cap="flat" cmpd="sng" algn="ctr">
                  <a:solidFill>
                    <a:schemeClr val="accent5"/>
                  </a:solidFill>
                  <a:round/>
                </a:ln>
                <a:effectLst>
                  <a:outerShdw blurRad="50800" dist="38100" dir="2700000" algn="tl" rotWithShape="0">
                    <a:schemeClr val="accent5">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5"/>
                      </a:solidFill>
                      <a:effectLst/>
                      <a:latin typeface="+mn-lt"/>
                      <a:ea typeface="+mn-ea"/>
                      <a:cs typeface="+mn-cs"/>
                    </a:defRPr>
                  </a:pPr>
                  <a:endParaRPr lang="en-US"/>
                </a:p>
              </c:txPr>
              <c:dLblPos val="inEnd"/>
              <c:showLegendKey val="0"/>
              <c:showVal val="1"/>
              <c:showCatName val="1"/>
              <c:showSerName val="0"/>
              <c:showPercent val="1"/>
              <c:showBubbleSize val="0"/>
            </c:dLbl>
            <c:spPr>
              <a:solidFill>
                <a:srgbClr val="FFFFFF">
                  <a:alpha val="90000"/>
                </a:srgbClr>
              </a:solidFill>
              <a:ln w="12700" cap="flat" cmpd="sng" algn="ctr">
                <a:solidFill>
                  <a:srgbClr val="4472C4"/>
                </a:solidFill>
                <a:round/>
              </a:ln>
              <a:effectLst>
                <a:outerShdw blurRad="50800" dist="38100" dir="2700000" algn="tl" rotWithShape="0">
                  <a:srgbClr val="4472C4">
                    <a:lumMod val="75000"/>
                    <a:alpha val="40000"/>
                  </a:srgb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Sheet1!$A$2:$A$6</c:f>
              <c:strCache>
                <c:ptCount val="3"/>
                <c:pt idx="0">
                  <c:v>BATTERY LIFE A WEEK</c:v>
                </c:pt>
                <c:pt idx="1">
                  <c:v>BATTERY LIFE 3-5 DAYS</c:v>
                </c:pt>
                <c:pt idx="2">
                  <c:v>OTHERS</c:v>
                </c:pt>
              </c:strCache>
            </c:strRef>
          </c:cat>
          <c:val>
            <c:numRef>
              <c:f>Sheet1!$B$2:$B$6</c:f>
              <c:numCache>
                <c:formatCode>General</c:formatCode>
                <c:ptCount val="5"/>
                <c:pt idx="0">
                  <c:v>90</c:v>
                </c:pt>
                <c:pt idx="1">
                  <c:v>10</c:v>
                </c:pt>
              </c:numCache>
            </c:numRef>
          </c:val>
        </c:ser>
        <c:dLbls>
          <c:showLegendKey val="0"/>
          <c:showVal val="0"/>
          <c:showCatName val="0"/>
          <c:showSerName val="0"/>
          <c:showPercent val="1"/>
          <c:showBubbleSize val="0"/>
          <c:showLeaderLines val="1"/>
        </c:dLbls>
      </c:pie3DChart>
      <c:spPr>
        <a:noFill/>
        <a:ln>
          <a:noFill/>
        </a:ln>
        <a:effectLst/>
      </c:spPr>
    </c:plotArea>
    <c:plotVisOnly val="1"/>
    <c:dispBlanksAs val="gap"/>
    <c:showDLblsOverMax val="0"/>
    <c:extLst>
      <c:ext uri="{0b15fc19-7d7d-44ad-8c2d-2c3a37ce22c3}">
        <chartProps xmlns="https://web.wps.cn/et/2018/main" chartId="{77d37378-df95-4f90-a575-5476947a9046}"/>
      </c:ext>
    </c:extLst>
  </c:chart>
  <c:spPr>
    <a:noFill/>
    <a:ln>
      <a:noFill/>
    </a:ln>
    <a:effectLst/>
  </c:spPr>
  <c:txPr>
    <a:bodyPr/>
    <a:lstStyle/>
    <a:p>
      <a:pPr>
        <a:defRPr lang="en-US"/>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MATERIAL</c:v>
                </c:pt>
              </c:strCache>
            </c:strRef>
          </c:tx>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Pt>
          <c:dPt>
            <c:idx val="1"/>
            <c:bubble3D val="0"/>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dPt>
          <c:dPt>
            <c:idx val="2"/>
            <c:bubble3D val="0"/>
            <c:spPr>
              <a:solidFill>
                <a:schemeClr val="accent3">
                  <a:alpha val="90000"/>
                </a:schemeClr>
              </a:solidFill>
              <a:ln w="19050">
                <a:solidFill>
                  <a:schemeClr val="accent3">
                    <a:lumMod val="75000"/>
                  </a:schemeClr>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Pt>
          <c:dPt>
            <c:idx val="3"/>
            <c:bubble3D val="0"/>
            <c:spPr>
              <a:solidFill>
                <a:schemeClr val="accent4">
                  <a:alpha val="90000"/>
                </a:schemeClr>
              </a:solidFill>
              <a:ln w="19050">
                <a:solidFill>
                  <a:schemeClr val="accent4">
                    <a:lumMod val="75000"/>
                  </a:schemeClr>
                </a:solidFill>
              </a:ln>
              <a:effectLst>
                <a:innerShdw blurRad="114300">
                  <a:schemeClr val="accent4">
                    <a:lumMod val="75000"/>
                  </a:schemeClr>
                </a:innerShdw>
              </a:effectLst>
              <a:scene3d>
                <a:camera prst="orthographicFront"/>
                <a:lightRig rig="threePt" dir="t"/>
              </a:scene3d>
              <a:sp3d contourW="19050" prstMaterial="flat">
                <a:contourClr>
                  <a:schemeClr val="accent4">
                    <a:lumMod val="75000"/>
                  </a:schemeClr>
                </a:contourClr>
              </a:sp3d>
            </c:spPr>
          </c:dPt>
          <c:dPt>
            <c:idx val="4"/>
            <c:bubble3D val="0"/>
            <c:spPr>
              <a:solidFill>
                <a:schemeClr val="accent5">
                  <a:alpha val="90000"/>
                </a:schemeClr>
              </a:solidFill>
              <a:ln w="19050">
                <a:solidFill>
                  <a:schemeClr val="accent5">
                    <a:lumMod val="75000"/>
                  </a:schemeClr>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Pt>
          <c:dLbls>
            <c:dLbl>
              <c:idx val="0"/>
              <c:spPr>
                <a:solidFill>
                  <a:schemeClr val="lt1">
                    <a:alpha val="90000"/>
                  </a:schemeClr>
                </a:solidFill>
                <a:ln w="12700" cap="flat" cmpd="sng" algn="ctr">
                  <a:solidFill>
                    <a:schemeClr val="accent1"/>
                  </a:solidFill>
                  <a:round/>
                </a:ln>
                <a:effectLst>
                  <a:outerShdw blurRad="50800" dist="38100" dir="2700000" algn="tl" rotWithShape="0">
                    <a:schemeClr val="accent1">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dLbl>
            <c:dLbl>
              <c:idx val="1"/>
              <c:spPr>
                <a:solidFill>
                  <a:schemeClr val="lt1">
                    <a:alpha val="90000"/>
                  </a:schemeClr>
                </a:solidFill>
                <a:ln w="12700" cap="flat" cmpd="sng" algn="ctr">
                  <a:solidFill>
                    <a:schemeClr val="accent2"/>
                  </a:solidFill>
                  <a:round/>
                </a:ln>
                <a:effectLst>
                  <a:outerShdw blurRad="50800" dist="38100" dir="2700000" algn="tl" rotWithShape="0">
                    <a:schemeClr val="accent2">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2"/>
                      </a:solidFill>
                      <a:effectLst/>
                      <a:latin typeface="+mn-lt"/>
                      <a:ea typeface="+mn-ea"/>
                      <a:cs typeface="+mn-cs"/>
                    </a:defRPr>
                  </a:pPr>
                  <a:endParaRPr lang="en-US"/>
                </a:p>
              </c:txPr>
              <c:dLblPos val="inEnd"/>
              <c:showLegendKey val="0"/>
              <c:showVal val="1"/>
              <c:showCatName val="1"/>
              <c:showSerName val="0"/>
              <c:showPercent val="1"/>
              <c:showBubbleSize val="0"/>
            </c:dLbl>
            <c:dLbl>
              <c:idx val="2"/>
              <c:spPr>
                <a:solidFill>
                  <a:schemeClr val="lt1">
                    <a:alpha val="90000"/>
                  </a:schemeClr>
                </a:solidFill>
                <a:ln w="12700" cap="flat" cmpd="sng" algn="ctr">
                  <a:solidFill>
                    <a:schemeClr val="accent3"/>
                  </a:solidFill>
                  <a:round/>
                </a:ln>
                <a:effectLst>
                  <a:outerShdw blurRad="50800" dist="38100" dir="2700000" algn="tl" rotWithShape="0">
                    <a:schemeClr val="accent3">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3"/>
                      </a:solidFill>
                      <a:effectLst/>
                      <a:latin typeface="+mn-lt"/>
                      <a:ea typeface="+mn-ea"/>
                      <a:cs typeface="+mn-cs"/>
                    </a:defRPr>
                  </a:pPr>
                  <a:endParaRPr lang="en-US"/>
                </a:p>
              </c:txPr>
              <c:dLblPos val="inEnd"/>
              <c:showLegendKey val="0"/>
              <c:showVal val="1"/>
              <c:showCatName val="1"/>
              <c:showSerName val="0"/>
              <c:showPercent val="1"/>
              <c:showBubbleSize val="0"/>
            </c:dLbl>
            <c:dLbl>
              <c:idx val="3"/>
              <c:spPr>
                <a:solidFill>
                  <a:schemeClr val="lt1">
                    <a:alpha val="90000"/>
                  </a:schemeClr>
                </a:solidFill>
                <a:ln w="12700" cap="flat" cmpd="sng" algn="ctr">
                  <a:solidFill>
                    <a:schemeClr val="accent4"/>
                  </a:solidFill>
                  <a:round/>
                </a:ln>
                <a:effectLst>
                  <a:outerShdw blurRad="50800" dist="38100" dir="2700000" algn="tl" rotWithShape="0">
                    <a:schemeClr val="accent4">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4"/>
                      </a:solidFill>
                      <a:effectLst/>
                      <a:latin typeface="+mn-lt"/>
                      <a:ea typeface="+mn-ea"/>
                      <a:cs typeface="+mn-cs"/>
                    </a:defRPr>
                  </a:pPr>
                  <a:endParaRPr lang="en-US"/>
                </a:p>
              </c:txPr>
              <c:dLblPos val="inEnd"/>
              <c:showLegendKey val="0"/>
              <c:showVal val="1"/>
              <c:showCatName val="1"/>
              <c:showSerName val="0"/>
              <c:showPercent val="1"/>
              <c:showBubbleSize val="0"/>
            </c:dLbl>
            <c:dLbl>
              <c:idx val="4"/>
              <c:spPr>
                <a:solidFill>
                  <a:schemeClr val="lt1">
                    <a:alpha val="90000"/>
                  </a:schemeClr>
                </a:solidFill>
                <a:ln w="12700" cap="flat" cmpd="sng" algn="ctr">
                  <a:solidFill>
                    <a:schemeClr val="accent5"/>
                  </a:solidFill>
                  <a:round/>
                </a:ln>
                <a:effectLst>
                  <a:outerShdw blurRad="50800" dist="38100" dir="2700000" algn="tl" rotWithShape="0">
                    <a:schemeClr val="accent5">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5"/>
                      </a:solidFill>
                      <a:effectLst/>
                      <a:latin typeface="+mn-lt"/>
                      <a:ea typeface="+mn-ea"/>
                      <a:cs typeface="+mn-cs"/>
                    </a:defRPr>
                  </a:pPr>
                  <a:endParaRPr lang="en-US"/>
                </a:p>
              </c:txPr>
              <c:dLblPos val="inEnd"/>
              <c:showLegendKey val="0"/>
              <c:showVal val="1"/>
              <c:showCatName val="1"/>
              <c:showSerName val="0"/>
              <c:showPercent val="1"/>
              <c:showBubbleSize val="0"/>
            </c:dLbl>
            <c:spPr>
              <a:solidFill>
                <a:srgbClr val="FFFFFF">
                  <a:alpha val="90000"/>
                </a:srgbClr>
              </a:solidFill>
              <a:ln w="12700" cap="flat" cmpd="sng" algn="ctr">
                <a:solidFill>
                  <a:srgbClr val="4472C4"/>
                </a:solidFill>
                <a:round/>
              </a:ln>
              <a:effectLst>
                <a:outerShdw blurRad="50800" dist="38100" dir="2700000" algn="tl" rotWithShape="0">
                  <a:srgbClr val="4472C4">
                    <a:lumMod val="75000"/>
                    <a:alpha val="40000"/>
                  </a:srgb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Sheet1!$A$2:$A$6</c:f>
              <c:strCache>
                <c:ptCount val="3"/>
                <c:pt idx="0">
                  <c:v>COLOUR SILVER</c:v>
                </c:pt>
                <c:pt idx="1">
                  <c:v>COLOUR BLACK</c:v>
                </c:pt>
                <c:pt idx="2">
                  <c:v>CUSTOM COLOUR</c:v>
                </c:pt>
              </c:strCache>
            </c:strRef>
          </c:cat>
          <c:val>
            <c:numRef>
              <c:f>Sheet1!$B$2:$B$6</c:f>
              <c:numCache>
                <c:formatCode>General</c:formatCode>
                <c:ptCount val="5"/>
                <c:pt idx="0">
                  <c:v>40</c:v>
                </c:pt>
                <c:pt idx="1">
                  <c:v>10</c:v>
                </c:pt>
                <c:pt idx="2">
                  <c:v>40</c:v>
                </c:pt>
              </c:numCache>
            </c:numRef>
          </c:val>
        </c:ser>
        <c:dLbls>
          <c:showLegendKey val="0"/>
          <c:showVal val="0"/>
          <c:showCatName val="0"/>
          <c:showSerName val="0"/>
          <c:showPercent val="1"/>
          <c:showBubbleSize val="0"/>
          <c:showLeaderLines val="1"/>
        </c:dLbls>
      </c:pie3DChart>
      <c:spPr>
        <a:noFill/>
        <a:ln>
          <a:noFill/>
        </a:ln>
        <a:effectLst/>
      </c:spPr>
    </c:plotArea>
    <c:plotVisOnly val="1"/>
    <c:dispBlanksAs val="gap"/>
    <c:showDLblsOverMax val="0"/>
    <c:extLst>
      <c:ext uri="{0b15fc19-7d7d-44ad-8c2d-2c3a37ce22c3}">
        <chartProps xmlns="https://web.wps.cn/et/2018/main" chartId="{6bfcafa5-1140-49cd-95b6-506e91421b2c}"/>
      </c:ext>
    </c:extLst>
  </c:chart>
  <c:spPr>
    <a:noFill/>
    <a:ln>
      <a:noFill/>
    </a:ln>
    <a:effectLst/>
  </c:spPr>
  <c:txPr>
    <a:bodyPr/>
    <a:lstStyle/>
    <a:p>
      <a:pPr>
        <a:defRPr lang="en-US"/>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Column1</c:v>
                </c:pt>
              </c:strCache>
            </c:strRef>
          </c:tx>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Pt>
          <c:dPt>
            <c:idx val="1"/>
            <c:bubble3D val="0"/>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dPt>
          <c:dPt>
            <c:idx val="2"/>
            <c:bubble3D val="0"/>
            <c:spPr>
              <a:solidFill>
                <a:schemeClr val="accent3">
                  <a:alpha val="90000"/>
                </a:schemeClr>
              </a:solidFill>
              <a:ln w="19050">
                <a:solidFill>
                  <a:schemeClr val="accent3">
                    <a:lumMod val="75000"/>
                  </a:schemeClr>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Pt>
          <c:dPt>
            <c:idx val="3"/>
            <c:bubble3D val="0"/>
            <c:spPr>
              <a:solidFill>
                <a:schemeClr val="accent4">
                  <a:alpha val="90000"/>
                </a:schemeClr>
              </a:solidFill>
              <a:ln w="19050">
                <a:solidFill>
                  <a:schemeClr val="accent4">
                    <a:lumMod val="75000"/>
                  </a:schemeClr>
                </a:solidFill>
              </a:ln>
              <a:effectLst>
                <a:innerShdw blurRad="114300">
                  <a:schemeClr val="accent4">
                    <a:lumMod val="75000"/>
                  </a:schemeClr>
                </a:innerShdw>
              </a:effectLst>
              <a:scene3d>
                <a:camera prst="orthographicFront"/>
                <a:lightRig rig="threePt" dir="t"/>
              </a:scene3d>
              <a:sp3d contourW="19050" prstMaterial="flat">
                <a:contourClr>
                  <a:schemeClr val="accent4">
                    <a:lumMod val="75000"/>
                  </a:schemeClr>
                </a:contourClr>
              </a:sp3d>
            </c:spPr>
          </c:dPt>
          <c:dPt>
            <c:idx val="4"/>
            <c:bubble3D val="0"/>
            <c:spPr>
              <a:solidFill>
                <a:schemeClr val="accent5">
                  <a:alpha val="90000"/>
                </a:schemeClr>
              </a:solidFill>
              <a:ln w="19050">
                <a:solidFill>
                  <a:schemeClr val="accent5">
                    <a:lumMod val="75000"/>
                  </a:schemeClr>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Pt>
          <c:dLbls>
            <c:dLbl>
              <c:idx val="0"/>
              <c:spPr>
                <a:solidFill>
                  <a:schemeClr val="lt1">
                    <a:alpha val="90000"/>
                  </a:schemeClr>
                </a:solidFill>
                <a:ln w="12700" cap="flat" cmpd="sng" algn="ctr">
                  <a:solidFill>
                    <a:schemeClr val="accent1"/>
                  </a:solidFill>
                  <a:round/>
                </a:ln>
                <a:effectLst>
                  <a:outerShdw blurRad="50800" dist="38100" dir="2700000" algn="tl" rotWithShape="0">
                    <a:schemeClr val="accent1">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dLbl>
            <c:dLbl>
              <c:idx val="1"/>
              <c:spPr>
                <a:solidFill>
                  <a:schemeClr val="lt1">
                    <a:alpha val="90000"/>
                  </a:schemeClr>
                </a:solidFill>
                <a:ln w="12700" cap="flat" cmpd="sng" algn="ctr">
                  <a:solidFill>
                    <a:schemeClr val="accent2"/>
                  </a:solidFill>
                  <a:round/>
                </a:ln>
                <a:effectLst>
                  <a:outerShdw blurRad="50800" dist="38100" dir="2700000" algn="tl" rotWithShape="0">
                    <a:schemeClr val="accent2">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2"/>
                      </a:solidFill>
                      <a:effectLst/>
                      <a:latin typeface="+mn-lt"/>
                      <a:ea typeface="+mn-ea"/>
                      <a:cs typeface="+mn-cs"/>
                    </a:defRPr>
                  </a:pPr>
                  <a:endParaRPr lang="en-US"/>
                </a:p>
              </c:txPr>
              <c:dLblPos val="inEnd"/>
              <c:showLegendKey val="0"/>
              <c:showVal val="1"/>
              <c:showCatName val="1"/>
              <c:showSerName val="0"/>
              <c:showPercent val="1"/>
              <c:showBubbleSize val="0"/>
            </c:dLbl>
            <c:dLbl>
              <c:idx val="2"/>
              <c:spPr>
                <a:solidFill>
                  <a:schemeClr val="lt1">
                    <a:alpha val="90000"/>
                  </a:schemeClr>
                </a:solidFill>
                <a:ln w="12700" cap="flat" cmpd="sng" algn="ctr">
                  <a:solidFill>
                    <a:schemeClr val="accent3"/>
                  </a:solidFill>
                  <a:round/>
                </a:ln>
                <a:effectLst>
                  <a:outerShdw blurRad="50800" dist="38100" dir="2700000" algn="tl" rotWithShape="0">
                    <a:schemeClr val="accent3">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3"/>
                      </a:solidFill>
                      <a:effectLst/>
                      <a:latin typeface="+mn-lt"/>
                      <a:ea typeface="+mn-ea"/>
                      <a:cs typeface="+mn-cs"/>
                    </a:defRPr>
                  </a:pPr>
                  <a:endParaRPr lang="en-US"/>
                </a:p>
              </c:txPr>
              <c:dLblPos val="inEnd"/>
              <c:showLegendKey val="0"/>
              <c:showVal val="1"/>
              <c:showCatName val="1"/>
              <c:showSerName val="0"/>
              <c:showPercent val="1"/>
              <c:showBubbleSize val="0"/>
            </c:dLbl>
            <c:dLbl>
              <c:idx val="3"/>
              <c:spPr>
                <a:solidFill>
                  <a:schemeClr val="lt1">
                    <a:alpha val="90000"/>
                  </a:schemeClr>
                </a:solidFill>
                <a:ln w="12700" cap="flat" cmpd="sng" algn="ctr">
                  <a:solidFill>
                    <a:schemeClr val="accent4"/>
                  </a:solidFill>
                  <a:round/>
                </a:ln>
                <a:effectLst>
                  <a:outerShdw blurRad="50800" dist="38100" dir="2700000" algn="tl" rotWithShape="0">
                    <a:schemeClr val="accent4">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4"/>
                      </a:solidFill>
                      <a:effectLst/>
                      <a:latin typeface="+mn-lt"/>
                      <a:ea typeface="+mn-ea"/>
                      <a:cs typeface="+mn-cs"/>
                    </a:defRPr>
                  </a:pPr>
                  <a:endParaRPr lang="en-US"/>
                </a:p>
              </c:txPr>
              <c:dLblPos val="inEnd"/>
              <c:showLegendKey val="0"/>
              <c:showVal val="1"/>
              <c:showCatName val="1"/>
              <c:showSerName val="0"/>
              <c:showPercent val="1"/>
              <c:showBubbleSize val="0"/>
            </c:dLbl>
            <c:dLbl>
              <c:idx val="4"/>
              <c:spPr>
                <a:solidFill>
                  <a:schemeClr val="lt1">
                    <a:alpha val="90000"/>
                  </a:schemeClr>
                </a:solidFill>
                <a:ln w="12700" cap="flat" cmpd="sng" algn="ctr">
                  <a:solidFill>
                    <a:schemeClr val="accent5"/>
                  </a:solidFill>
                  <a:round/>
                </a:ln>
                <a:effectLst>
                  <a:outerShdw blurRad="50800" dist="38100" dir="2700000" algn="tl" rotWithShape="0">
                    <a:schemeClr val="accent5">
                      <a:lumMod val="75000"/>
                      <a:alpha val="40000"/>
                    </a:scheme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5"/>
                      </a:solidFill>
                      <a:effectLst/>
                      <a:latin typeface="+mn-lt"/>
                      <a:ea typeface="+mn-ea"/>
                      <a:cs typeface="+mn-cs"/>
                    </a:defRPr>
                  </a:pPr>
                  <a:endParaRPr lang="en-US"/>
                </a:p>
              </c:txPr>
              <c:dLblPos val="inEnd"/>
              <c:showLegendKey val="0"/>
              <c:showVal val="1"/>
              <c:showCatName val="1"/>
              <c:showSerName val="0"/>
              <c:showPercent val="1"/>
              <c:showBubbleSize val="0"/>
            </c:dLbl>
            <c:spPr>
              <a:solidFill>
                <a:srgbClr val="FFFFFF">
                  <a:alpha val="90000"/>
                </a:srgbClr>
              </a:solidFill>
              <a:ln w="12700" cap="flat" cmpd="sng" algn="ctr">
                <a:solidFill>
                  <a:srgbClr val="4472C4"/>
                </a:solidFill>
                <a:round/>
              </a:ln>
              <a:effectLst>
                <a:outerShdw blurRad="50800" dist="38100" dir="2700000" algn="tl" rotWithShape="0">
                  <a:srgbClr val="4472C4">
                    <a:lumMod val="75000"/>
                    <a:alpha val="40000"/>
                  </a:srgbClr>
                </a:outerShdw>
              </a:effectLst>
            </c:spPr>
            <c:txPr>
              <a:bodyPr rot="0" spcFirstLastPara="1" vertOverflow="clip" horzOverflow="clip" vert="horz" wrap="square" lIns="38100" tIns="19050" rIns="38100" bIns="19050" anchor="ctr" anchorCtr="1">
                <a:spAutoFit/>
              </a:bodyPr>
              <a:lstStyle/>
              <a:p>
                <a:pPr>
                  <a:defRPr lang="en-US" sz="133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Sheet1!$A$2:$A$6</c:f>
              <c:strCache>
                <c:ptCount val="3"/>
                <c:pt idx="0">
                  <c:v>DAILY</c:v>
                </c:pt>
                <c:pt idx="1">
                  <c:v>FEW TIMES A WEEK</c:v>
                </c:pt>
                <c:pt idx="2">
                  <c:v>RARELY</c:v>
                </c:pt>
              </c:strCache>
            </c:strRef>
          </c:cat>
          <c:val>
            <c:numRef>
              <c:f>Sheet1!$B$2:$B$6</c:f>
              <c:numCache>
                <c:formatCode>General</c:formatCode>
                <c:ptCount val="5"/>
                <c:pt idx="0">
                  <c:v>70</c:v>
                </c:pt>
                <c:pt idx="1">
                  <c:v>20</c:v>
                </c:pt>
                <c:pt idx="2">
                  <c:v>10</c:v>
                </c:pt>
              </c:numCache>
            </c:numRef>
          </c:val>
        </c:ser>
        <c:dLbls>
          <c:showLegendKey val="0"/>
          <c:showVal val="0"/>
          <c:showCatName val="0"/>
          <c:showSerName val="0"/>
          <c:showPercent val="1"/>
          <c:showBubbleSize val="0"/>
          <c:showLeaderLines val="1"/>
        </c:dLbls>
      </c:pie3DChart>
      <c:spPr>
        <a:noFill/>
        <a:ln>
          <a:noFill/>
        </a:ln>
        <a:effectLst/>
      </c:spPr>
    </c:plotArea>
    <c:plotVisOnly val="1"/>
    <c:dispBlanksAs val="gap"/>
    <c:showDLblsOverMax val="0"/>
    <c:extLst>
      <c:ext uri="{0b15fc19-7d7d-44ad-8c2d-2c3a37ce22c3}">
        <chartProps xmlns="https://web.wps.cn/et/2018/main" chartId="{0da9a18f-788a-4d3e-a650-35e882f6a64d}"/>
      </c:ext>
    </c:extLst>
  </c:chart>
  <c:spPr>
    <a:noFill/>
    <a:ln>
      <a:noFill/>
    </a:ln>
    <a:effectLst/>
  </c:spPr>
  <c:txPr>
    <a:bodyPr/>
    <a:lstStyle/>
    <a:p>
      <a:pPr>
        <a:defRPr lang="en-US"/>
      </a:pPr>
      <a:endParaRPr lang="en-US"/>
    </a:p>
  </c:txPr>
  <c:externalData r:id="rId1">
    <c:autoUpdate val="0"/>
  </c:externalData>
</c:chartSpace>
</file>

<file path=ppt/comments/comment1.xml><?xml version="1.0" encoding="utf-8"?>
<p:cmLst xmlns:a="http://schemas.openxmlformats.org/drawingml/2006/main" xmlns:r="http://schemas.openxmlformats.org/officeDocument/2006/relationships" xmlns:p="http://schemas.openxmlformats.org/presentationml/2006/main">
  <p:cm authorId="1" dt="2023-03-21T14:02:37.723" idx="3">
    <p:pos x="7680" y="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38"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639"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640"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641"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643"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134187014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3"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4"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6" name="Title 1"/>
          <p:cNvSpPr>
            <a:spLocks noGrp="1"/>
          </p:cNvSpPr>
          <p:nvPr>
            <p:ph type="title"/>
          </p:nvPr>
        </p:nvSpPr>
        <p:spPr/>
        <p:txBody>
          <a:bodyPr/>
          <a:lstStyle/>
          <a:p>
            <a:r>
              <a:rPr lang="en-US"/>
              <a:t>Click to edit Master title style</a:t>
            </a:r>
            <a:endParaRPr lang="en-IN"/>
          </a:p>
        </p:txBody>
      </p:sp>
      <p:sp>
        <p:nvSpPr>
          <p:cNvPr id="1048587"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17"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18"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9" name="Title 1"/>
          <p:cNvSpPr>
            <a:spLocks noGrp="1"/>
          </p:cNvSpPr>
          <p:nvPr>
            <p:ph type="title"/>
          </p:nvPr>
        </p:nvSpPr>
        <p:spPr/>
        <p:txBody>
          <a:bodyPr/>
          <a:lstStyle/>
          <a:p>
            <a:r>
              <a:rPr lang="en-US"/>
              <a:t>Click to edit Master title style</a:t>
            </a:r>
            <a:endParaRPr lang="en-IN"/>
          </a:p>
        </p:txBody>
      </p:sp>
      <p:sp>
        <p:nvSpPr>
          <p:cNvPr id="1048620"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1"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1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2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2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2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2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1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1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1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27" name="Title 1"/>
          <p:cNvSpPr>
            <a:spLocks noGrp="1"/>
          </p:cNvSpPr>
          <p:nvPr>
            <p:ph type="title"/>
          </p:nvPr>
        </p:nvSpPr>
        <p:spPr/>
        <p:txBody>
          <a:bodyPr/>
          <a:lstStyle/>
          <a:p>
            <a:r>
              <a:rPr lang="en-US"/>
              <a:t>Click to edit Master title style</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28"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29"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0"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578" name="Date Placeholder 3"/>
          <p:cNvSpPr>
            <a:spLocks noGrp="1"/>
          </p:cNvSpPr>
          <p:nvPr>
            <p:ph type="dt" sz="half" idx="1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31"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32" name="Picture Placeholder 2"/>
          <p:cNvSpPr>
            <a:spLocks noGrp="1"/>
          </p:cNvSpPr>
          <p:nvPr>
            <p:ph type="pic" idx="1"/>
          </p:nvPr>
        </p:nvSpPr>
        <p:spPr>
          <a:xfrm>
            <a:off x="5183188" y="987425"/>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1048633"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578" name="Date Placeholder 3"/>
          <p:cNvSpPr>
            <a:spLocks noGrp="1"/>
          </p:cNvSpPr>
          <p:nvPr>
            <p:ph type="dt" sz="half" idx="1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34" name="Title 1"/>
          <p:cNvSpPr>
            <a:spLocks noGrp="1"/>
          </p:cNvSpPr>
          <p:nvPr>
            <p:ph type="title"/>
          </p:nvPr>
        </p:nvSpPr>
        <p:spPr/>
        <p:txBody>
          <a:bodyPr/>
          <a:lstStyle/>
          <a:p>
            <a:r>
              <a:rPr lang="en-US"/>
              <a:t>Click to edit Master title style</a:t>
            </a:r>
            <a:endParaRPr lang="en-IN"/>
          </a:p>
        </p:txBody>
      </p:sp>
      <p:sp>
        <p:nvSpPr>
          <p:cNvPr id="104863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36"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37"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2"/>
          </a:xfrm>
          <a:prstGeom prst="rect">
            <a:avLst/>
          </a:prstGeom>
          <a:noFill/>
          <a:ln>
            <a:noFill/>
          </a:ln>
        </p:spPr>
        <p:txBody>
          <a:bodyPr vert="horz" lIns="91440" tIns="45720" rIns="91440" bIns="45720" anchor="ctr"/>
          <a:lstStyle/>
          <a:p>
            <a:pPr lvl="0"/>
            <a:r>
              <a:rPr lang="en-US" altLang="en-US"/>
              <a:t>Click to edit Master title style</a:t>
            </a:r>
          </a:p>
        </p:txBody>
      </p:sp>
      <p:sp>
        <p:nvSpPr>
          <p:cNvPr id="1048577" name="Text Placeholder 2"/>
          <p:cNvSpPr>
            <a:spLocks noGrp="1"/>
          </p:cNvSpPr>
          <p:nvPr>
            <p:ph type="body" idx="1"/>
          </p:nvPr>
        </p:nvSpPr>
        <p:spPr>
          <a:xfrm>
            <a:off x="838200" y="1825625"/>
            <a:ext cx="10515600" cy="4351337"/>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fld id="{566ABCEB-ACFC-4714-9973-3DA970169C29}" type="datetime1">
              <a:rPr lang="en-IN" altLang="en-US" sz="1200">
                <a:solidFill>
                  <a:srgbClr val="898989"/>
                </a:solidFill>
              </a:rPr>
              <a:t>05-08-2026</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r"/>
            <a:fld id="{566ABCEB-ACFC-4714-9973-3DA970169C29}" type="slidenum">
              <a:rPr lang="en-IN" altLang="en-US" sz="1200">
                <a:solidFill>
                  <a:srgbClr val="898989"/>
                </a:solidFill>
              </a:rPr>
              <a:t>‹#›</a:t>
            </a:fld>
            <a:endParaRPr lang="en-IN" altLang="en-US" sz="1200">
              <a:solidFill>
                <a:srgbClr val="898989"/>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22.jpg"/></Relationships>
</file>

<file path=ppt/slides/_rels/slide1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g"/><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1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Google Shape;93;p13"/>
          <p:cNvSpPr txBox="1">
            <a:spLocks noChangeArrowheads="1"/>
          </p:cNvSpPr>
          <p:nvPr/>
        </p:nvSpPr>
        <p:spPr bwMode="auto">
          <a:xfrm>
            <a:off x="1768841" y="1795780"/>
            <a:ext cx="8654318" cy="49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45700" rIns="91425" bIns="457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2600" b="1" dirty="0">
                <a:solidFill>
                  <a:srgbClr val="002060"/>
                </a:solidFill>
                <a:latin typeface="Times New Roman" panose="02020603050405020304" pitchFamily="18" charset="0"/>
                <a:cs typeface="Times New Roman" panose="02020603050405020304" pitchFamily="18" charset="0"/>
                <a:sym typeface="Times New Roman" panose="02020603050405020304" pitchFamily="18" charset="0"/>
              </a:rPr>
              <a:t>PROJECT TITLE:</a:t>
            </a:r>
            <a:r>
              <a:rPr lang="en-US" altLang="en-US" sz="26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en-US" sz="2600" b="1" dirty="0">
                <a:solidFill>
                  <a:srgbClr val="00B050"/>
                </a:solidFill>
                <a:latin typeface="Times New Roman" panose="02020603050405020304" pitchFamily="18" charset="0"/>
                <a:cs typeface="Times New Roman" panose="02020603050405020304" pitchFamily="18" charset="0"/>
                <a:sym typeface="Times New Roman" panose="02020603050405020304" pitchFamily="18" charset="0"/>
              </a:rPr>
              <a:t>SCARF WITH MASSAGER</a:t>
            </a:r>
            <a:endParaRPr lang="en-US" altLang="en-US" sz="2600" dirty="0">
              <a:solidFill>
                <a:srgbClr val="00B050"/>
              </a:solidFill>
            </a:endParaRPr>
          </a:p>
        </p:txBody>
      </p:sp>
      <p:graphicFrame>
        <p:nvGraphicFramePr>
          <p:cNvPr id="5" name="Google Shape;90;p13"/>
          <p:cNvGraphicFramePr/>
          <p:nvPr>
            <p:extLst>
              <p:ext uri="{D42A27DB-BD31-4B8C-83A1-F6EECF244321}">
                <p14:modId xmlns:p14="http://schemas.microsoft.com/office/powerpoint/2010/main" val="1397815472"/>
              </p:ext>
            </p:extLst>
          </p:nvPr>
        </p:nvGraphicFramePr>
        <p:xfrm>
          <a:off x="790355" y="2605252"/>
          <a:ext cx="10610238" cy="2978027"/>
        </p:xfrm>
        <a:graphic>
          <a:graphicData uri="http://schemas.openxmlformats.org/drawingml/2006/table">
            <a:tbl>
              <a:tblPr>
                <a:noFill/>
              </a:tblPr>
              <a:tblGrid>
                <a:gridCol w="1018146"/>
                <a:gridCol w="3088635"/>
                <a:gridCol w="1647515"/>
                <a:gridCol w="4855942"/>
              </a:tblGrid>
              <a:tr h="677261">
                <a:tc>
                  <a:txBody>
                    <a:bodyPr/>
                    <a:lstStyle/>
                    <a:p>
                      <a:pPr marL="0" marR="0" lvl="0" indent="0" algn="ctr" rtl="0">
                        <a:spcBef>
                          <a:spcPts val="0"/>
                        </a:spcBef>
                        <a:spcAft>
                          <a:spcPts val="0"/>
                        </a:spcAft>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 </a:t>
                      </a:r>
                      <a:r>
                        <a:rPr lang="en-US" sz="2000" b="1" u="none" strike="noStrike" cap="none" dirty="0" err="1">
                          <a:latin typeface="Times New Roman" panose="02020603050405020304"/>
                          <a:ea typeface="Times New Roman" panose="02020603050405020304"/>
                          <a:cs typeface="Times New Roman" panose="02020603050405020304"/>
                          <a:sym typeface="Times New Roman" panose="02020603050405020304"/>
                        </a:rPr>
                        <a:t>S.No</a:t>
                      </a:r>
                      <a:endParaRPr sz="20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3"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Calibri" panose="020F0502020204030204"/>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Name of the student </a:t>
                      </a:r>
                      <a:endParaRPr sz="20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3"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Year/Dept</a:t>
                      </a:r>
                      <a:endParaRPr sz="20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3"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Email Id</a:t>
                      </a:r>
                      <a:endParaRPr sz="20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3"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766878">
                <a:tc>
                  <a:txBody>
                    <a:bodyPr/>
                    <a:lstStyle/>
                    <a:p>
                      <a:pPr marL="0" marR="0" lvl="0" indent="0" algn="ctr" rtl="0">
                        <a:spcBef>
                          <a:spcPts val="0"/>
                        </a:spcBef>
                        <a:spcAft>
                          <a:spcPts val="0"/>
                        </a:spcAft>
                        <a:buNone/>
                      </a:pPr>
                      <a:r>
                        <a:rPr lang="en-US"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1</a:t>
                      </a:r>
                      <a:endParaRPr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3"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ctr" fontAlgn="auto">
                        <a:lnSpc>
                          <a:spcPct val="90000"/>
                        </a:lnSpc>
                        <a:spcBef>
                          <a:spcPts val="465"/>
                        </a:spcBef>
                        <a:spcAft>
                          <a:spcPts val="0"/>
                        </a:spcAft>
                        <a:defRPr/>
                      </a:pPr>
                      <a:r>
                        <a:rPr lang="en-US" altLang="zh-CN" sz="2000" b="1" dirty="0">
                          <a:solidFill>
                            <a:schemeClr val="tx1"/>
                          </a:solidFill>
                          <a:latin typeface="Times New Roman" panose="02020603050405020304" pitchFamily="18" charset="0"/>
                          <a:cs typeface="Times New Roman" panose="02020603050405020304" pitchFamily="18" charset="0"/>
                        </a:rPr>
                        <a:t>SHANMUGA PRIYAA K</a:t>
                      </a: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II/ECE</a:t>
                      </a:r>
                      <a:endParaRPr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en-IN"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shanmugapriyaa.ec24</a:t>
                      </a:r>
                      <a:r>
                        <a:rPr lang="en-IN"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@krct.ac.in</a:t>
                      </a:r>
                      <a:endParaRPr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767010">
                <a:tc>
                  <a:txBody>
                    <a:bodyPr/>
                    <a:lstStyle/>
                    <a:p>
                      <a:pPr marL="0" marR="0" lvl="0" indent="0" algn="ctr" rtl="0">
                        <a:spcBef>
                          <a:spcPts val="0"/>
                        </a:spcBef>
                        <a:spcAft>
                          <a:spcPts val="0"/>
                        </a:spcAft>
                        <a:buNone/>
                      </a:pPr>
                      <a:r>
                        <a:rPr lang="en-US"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2</a:t>
                      </a:r>
                      <a:endParaRPr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3"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zh-CN" sz="2000" b="1" dirty="0">
                          <a:solidFill>
                            <a:schemeClr val="tx1"/>
                          </a:solidFill>
                          <a:latin typeface="Times New Roman" panose="02020603050405020304" pitchFamily="18" charset="0"/>
                          <a:cs typeface="Times New Roman" panose="02020603050405020304" pitchFamily="18" charset="0"/>
                        </a:rPr>
                        <a:t>SHIVANANDHINI S</a:t>
                      </a:r>
                      <a:endParaRPr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II/ECE</a:t>
                      </a: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en-IN"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shivanandhini.ec24@krct.ac.in</a:t>
                      </a: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766878">
                <a:tc>
                  <a:txBody>
                    <a:bodyPr/>
                    <a:lstStyle/>
                    <a:p>
                      <a:pPr marL="0" marR="0" lvl="0" indent="0" algn="ctr" rtl="0">
                        <a:spcBef>
                          <a:spcPts val="0"/>
                        </a:spcBef>
                        <a:spcAft>
                          <a:spcPts val="0"/>
                        </a:spcAft>
                        <a:buNone/>
                      </a:pPr>
                      <a:r>
                        <a:rPr lang="en-US"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3</a:t>
                      </a:r>
                      <a:endParaRPr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3"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zh-CN" sz="2000" b="1" dirty="0">
                          <a:solidFill>
                            <a:schemeClr val="tx1"/>
                          </a:solidFill>
                          <a:latin typeface="Times New Roman" panose="02020603050405020304" pitchFamily="18" charset="0"/>
                          <a:cs typeface="Times New Roman" panose="02020603050405020304" pitchFamily="18" charset="0"/>
                        </a:rPr>
                        <a:t>SOWMIYA M</a:t>
                      </a:r>
                      <a:endParaRPr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II/ECE</a:t>
                      </a: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en-IN" sz="2000" b="1"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sowmiya.ec24@krct.ac.in</a:t>
                      </a:r>
                    </a:p>
                  </a:txBody>
                  <a:tcPr marL="91459" marR="91459" marT="45716" marB="45716"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r>
            </a:tbl>
          </a:graphicData>
        </a:graphic>
      </p:graphicFrame>
      <p:graphicFrame>
        <p:nvGraphicFramePr>
          <p:cNvPr id="9" name="Table 8"/>
          <p:cNvGraphicFramePr/>
          <p:nvPr>
            <p:custDataLst>
              <p:tags r:id="rId1"/>
            </p:custDataLst>
            <p:extLst>
              <p:ext uri="{D42A27DB-BD31-4B8C-83A1-F6EECF244321}">
                <p14:modId xmlns:p14="http://schemas.microsoft.com/office/powerpoint/2010/main" val="2095767012"/>
              </p:ext>
            </p:extLst>
          </p:nvPr>
        </p:nvGraphicFramePr>
        <p:xfrm>
          <a:off x="790575" y="5583555"/>
          <a:ext cx="10609580" cy="516255"/>
        </p:xfrm>
        <a:graphic>
          <a:graphicData uri="http://schemas.openxmlformats.org/drawingml/2006/table">
            <a:tbl>
              <a:tblPr firstRow="1" bandRow="1">
                <a:tableStyleId>{5C22544A-7EE6-4342-B048-85BDC9FD1C3A}</a:tableStyleId>
              </a:tblPr>
              <a:tblGrid>
                <a:gridCol w="1029335"/>
                <a:gridCol w="3084830"/>
                <a:gridCol w="1638935"/>
                <a:gridCol w="4856480"/>
              </a:tblGrid>
              <a:tr h="516255">
                <a:tc>
                  <a:txBody>
                    <a:bodyPr/>
                    <a:lstStyle/>
                    <a:p>
                      <a:pPr>
                        <a:buNone/>
                      </a:pPr>
                      <a:r>
                        <a:rPr lang="en-US" dirty="0"/>
                        <a:t>     </a:t>
                      </a:r>
                      <a:r>
                        <a:rPr lang="en-US" dirty="0">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4</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           SUJITHA </a:t>
                      </a:r>
                      <a:r>
                        <a:rPr lang="en-US" sz="2000" dirty="0">
                          <a:solidFill>
                            <a:schemeClr val="tx1"/>
                          </a:solidFill>
                          <a:latin typeface="Times New Roman" panose="02020603050405020304" pitchFamily="18" charset="0"/>
                          <a:cs typeface="Times New Roman" panose="02020603050405020304" pitchFamily="18" charset="0"/>
                        </a:rPr>
                        <a:t>M</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II/ECE</a:t>
                      </a:r>
                      <a:endParaRPr lang="en-US" sz="2000" dirty="0">
                        <a:solidFill>
                          <a:schemeClr val="tx1"/>
                        </a:solidFill>
                        <a:latin typeface="Times New Roman" panose="02020603050405020304" pitchFamily="18" charset="0"/>
                        <a:cs typeface="Times New Roman" panose="02020603050405020304" pitchFamily="18"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US" sz="2000" dirty="0">
                          <a:solidFill>
                            <a:schemeClr val="tx1"/>
                          </a:solidFill>
                          <a:latin typeface="Times New Roman" panose="02020603050405020304" pitchFamily="18" charset="0"/>
                          <a:cs typeface="Times New Roman" panose="02020603050405020304" pitchFamily="18" charset="0"/>
                        </a:rPr>
                        <a:t>                   sujitha.ec24@krct.ac.in</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pic>
        <p:nvPicPr>
          <p:cNvPr id="6" name="Picture 8" descr="asddcavvf Upgraded Heated Scarf With Massage Function USB Heat Shawl Warm  Neck Wrap Warming Scarf With Neck Heating Pad Heating Women Scarf and Men  Lit Workout - Walmart.c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32138" y="23429"/>
            <a:ext cx="2262571" cy="22625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6" descr="Scarf Massaging Neck Wrap Vibrating Massager CALMING COZY 23 X Massaging  Heating Neck Wrap, Grey"/>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733" t="20846" r="4712" b="22870"/>
          <a:stretch/>
        </p:blipFill>
        <p:spPr bwMode="auto">
          <a:xfrm>
            <a:off x="7165472" y="23428"/>
            <a:ext cx="2766666" cy="16529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TENGOO Electric Heating Scarf 3 Gears Heating 4 Modes Massage Ajustable  Winter Warm USB Rechargeable Neckerchief Plush Collar Sale - Banggood India  Mobile | Shopping India-arrival notice"/>
          <p:cNvPicPr>
            <a:picLocks noChangeAspect="1" noChangeArrowheads="1"/>
          </p:cNvPicPr>
          <p:nvPr/>
        </p:nvPicPr>
        <p:blipFill rotWithShape="1">
          <a:blip r:embed="rId6">
            <a:extLst>
              <a:ext uri="{28A0092B-C50C-407E-A947-70E740481C1C}">
                <a14:useLocalDpi xmlns:a14="http://schemas.microsoft.com/office/drawing/2010/main" val="0"/>
              </a:ext>
            </a:extLst>
          </a:blip>
          <a:srcRect t="8458"/>
          <a:stretch/>
        </p:blipFill>
        <p:spPr bwMode="auto">
          <a:xfrm>
            <a:off x="2314573" y="23429"/>
            <a:ext cx="2759851" cy="165290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23429"/>
            <a:ext cx="2314575" cy="2314575"/>
          </a:xfrm>
          <a:prstGeom prst="rect">
            <a:avLst/>
          </a:prstGeom>
        </p:spPr>
      </p:pic>
      <p:pic>
        <p:nvPicPr>
          <p:cNvPr id="1026" name="Picture 2" descr="Portable Mini Electric Neck Back Body Massager|Cervical Electric Massa –  Jayesh Variety"/>
          <p:cNvPicPr>
            <a:picLocks noChangeAspect="1" noChangeArrowheads="1"/>
          </p:cNvPicPr>
          <p:nvPr/>
        </p:nvPicPr>
        <p:blipFill rotWithShape="1">
          <a:blip r:embed="rId8">
            <a:extLst>
              <a:ext uri="{28A0092B-C50C-407E-A947-70E740481C1C}">
                <a14:useLocalDpi xmlns:a14="http://schemas.microsoft.com/office/drawing/2010/main" val="0"/>
              </a:ext>
            </a:extLst>
          </a:blip>
          <a:srcRect t="15659"/>
          <a:stretch/>
        </p:blipFill>
        <p:spPr bwMode="auto">
          <a:xfrm>
            <a:off x="5081241" y="-5147"/>
            <a:ext cx="2091047" cy="16814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Title 1"/>
          <p:cNvSpPr>
            <a:spLocks noGrp="1"/>
          </p:cNvSpPr>
          <p:nvPr>
            <p:ph type="title"/>
          </p:nvPr>
        </p:nvSpPr>
        <p:spPr>
          <a:xfrm>
            <a:off x="838200" y="295517"/>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IN" altLang="en-US" sz="4000" b="1" u="sng" dirty="0">
                <a:latin typeface="Times New Roman" panose="02020603050405020304" pitchFamily="18" charset="0"/>
                <a:ea typeface="Times New Roman" panose="02020603050405020304" pitchFamily="18" charset="0"/>
              </a:rPr>
              <a:t>PROBLEM STATEMENT</a:t>
            </a:r>
          </a:p>
        </p:txBody>
      </p:sp>
      <p:sp>
        <p:nvSpPr>
          <p:cNvPr id="1048589" name="Content Placeholder 5"/>
          <p:cNvSpPr>
            <a:spLocks noGrp="1"/>
          </p:cNvSpPr>
          <p:nvPr>
            <p:ph idx="1"/>
          </p:nvPr>
        </p:nvSpPr>
        <p:spPr>
          <a:xfrm>
            <a:off x="771098" y="1628018"/>
            <a:ext cx="10515600" cy="3007632"/>
          </a:xfrm>
          <a:prstGeom prst="rect">
            <a:avLst/>
          </a:prstGeom>
          <a:noFill/>
          <a:ln>
            <a:noFill/>
          </a:ln>
        </p:spPr>
        <p:txBody>
          <a:bodyPr vert="horz" lIns="91440" tIns="45720" rIns="91440" bIns="45720" anchor="t"/>
          <a:lstStyle>
            <a:lvl1pPr marL="228600" indent="-228600" algn="l" rtl="0" eaLnBrk="1" fontAlgn="base" latinLnBrk="0" hangingPunct="1">
              <a:lnSpc>
                <a:spcPct val="90000"/>
              </a:lnSpc>
              <a:spcBef>
                <a:spcPts val="1000"/>
              </a:spcBef>
              <a:spcAft>
                <a:spcPct val="0"/>
              </a:spcAft>
              <a:buSzPct val="100000"/>
              <a:buFont typeface="Arial" panose="020B0604020202020204" pitchFamily="34" charset="0"/>
              <a:buChar char="•"/>
              <a:defRPr sz="2800" b="0" i="0" u="none" baseline="0">
                <a:solidFill>
                  <a:schemeClr val="dk1"/>
                </a:solidFill>
                <a:latin typeface="Calibri" panose="020F0502020204030204" pitchFamily="34" charset="0"/>
                <a:sym typeface="Calibri" panose="020F0502020204030204" pitchFamily="34" charset="0"/>
              </a:defRPr>
            </a:lvl1pPr>
            <a:lvl2pPr marL="685800" indent="-228600" algn="l" rtl="0" eaLnBrk="1" fontAlgn="base" latinLnBrk="0" hangingPunct="1">
              <a:lnSpc>
                <a:spcPct val="90000"/>
              </a:lnSpc>
              <a:spcBef>
                <a:spcPts val="500"/>
              </a:spcBef>
              <a:spcAft>
                <a:spcPct val="0"/>
              </a:spcAft>
              <a:buSzPct val="100000"/>
              <a:buFont typeface="Arial" panose="020B0604020202020204" pitchFamily="34" charset="0"/>
              <a:buChar char="•"/>
              <a:defRPr sz="2400" b="0" i="0" u="none" baseline="0">
                <a:solidFill>
                  <a:schemeClr val="dk1"/>
                </a:solidFill>
                <a:latin typeface="Calibri" panose="020F0502020204030204" pitchFamily="34" charset="0"/>
                <a:sym typeface="Calibri" panose="020F0502020204030204" pitchFamily="34" charset="0"/>
              </a:defRPr>
            </a:lvl2pPr>
            <a:lvl3pPr marL="1143000" indent="-228600" algn="l" rtl="0" eaLnBrk="1" fontAlgn="base" latinLnBrk="0" hangingPunct="1">
              <a:lnSpc>
                <a:spcPct val="90000"/>
              </a:lnSpc>
              <a:spcBef>
                <a:spcPts val="500"/>
              </a:spcBef>
              <a:spcAft>
                <a:spcPct val="0"/>
              </a:spcAft>
              <a:buSzPct val="100000"/>
              <a:buFont typeface="Arial" panose="020B0604020202020204" pitchFamily="34" charset="0"/>
              <a:buChar char="•"/>
              <a:defRPr sz="2000" b="0" i="0" u="none" baseline="0">
                <a:solidFill>
                  <a:schemeClr val="dk1"/>
                </a:solidFill>
                <a:latin typeface="Calibri" panose="020F0502020204030204" pitchFamily="34" charset="0"/>
                <a:sym typeface="Calibri" panose="020F0502020204030204" pitchFamily="34" charset="0"/>
              </a:defRPr>
            </a:lvl3pPr>
            <a:lvl4pPr marL="1600200" indent="-228600" algn="l" rtl="0" eaLnBrk="1" fontAlgn="base" latinLnBrk="0" hangingPunct="1">
              <a:lnSpc>
                <a:spcPct val="90000"/>
              </a:lnSpc>
              <a:spcBef>
                <a:spcPts val="500"/>
              </a:spcBef>
              <a:spcAft>
                <a:spcPct val="0"/>
              </a:spcAft>
              <a:buSzPct val="100000"/>
              <a:buFont typeface="Arial" panose="020B0604020202020204" pitchFamily="34" charset="0"/>
              <a:buChar char="•"/>
              <a:defRPr sz="1800" b="0" i="0" u="none" baseline="0">
                <a:solidFill>
                  <a:schemeClr val="dk1"/>
                </a:solidFill>
                <a:latin typeface="Calibri" panose="020F0502020204030204" pitchFamily="34" charset="0"/>
                <a:sym typeface="Calibri" panose="020F0502020204030204" pitchFamily="34" charset="0"/>
              </a:defRPr>
            </a:lvl4pPr>
            <a:lvl5pPr marL="2057400" indent="-228600" algn="l" rtl="0" eaLnBrk="1" fontAlgn="base" latinLnBrk="0" hangingPunct="1">
              <a:lnSpc>
                <a:spcPct val="90000"/>
              </a:lnSpc>
              <a:spcBef>
                <a:spcPts val="500"/>
              </a:spcBef>
              <a:spcAft>
                <a:spcPct val="0"/>
              </a:spcAft>
              <a:buSzPct val="100000"/>
              <a:buFont typeface="Arial" panose="020B0604020202020204" pitchFamily="34" charset="0"/>
              <a:buChar char="•"/>
              <a:defRPr sz="1800" b="0" i="0" u="none" baseline="0">
                <a:solidFill>
                  <a:schemeClr val="dk1"/>
                </a:solidFill>
                <a:latin typeface="Calibri" panose="020F0502020204030204" pitchFamily="34" charset="0"/>
                <a:sym typeface="Calibri" panose="020F0502020204030204" pitchFamily="34" charset="0"/>
              </a:defRPr>
            </a:lvl5pPr>
          </a:lstStyle>
          <a:p>
            <a:pPr marL="0" indent="0" algn="just">
              <a:buNone/>
            </a:pPr>
            <a:r>
              <a:rPr lang="en-US" altLang="en-US" sz="3000" dirty="0">
                <a:latin typeface="Times New Roman" panose="02020603050405020304" pitchFamily="18" charset="0"/>
                <a:cs typeface="Times New Roman" panose="02020603050405020304" pitchFamily="18" charset="0"/>
              </a:rPr>
              <a:t>Many people experience daily neck and shoulder tension due to long working hours, stress, poor posture, and screen time. Traditional scarves only provide warmth, and massagers are often bulky, inconvenient, or not portable. There is a need for a product that combines everyday comfort with therapeutic relief in a simple, wearable form.</a:t>
            </a:r>
          </a:p>
        </p:txBody>
      </p:sp>
      <p:pic>
        <p:nvPicPr>
          <p:cNvPr id="1026" name="Picture 2" descr="Problem Statement Images – Browse 31,261 Stock Photo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4299" y="4496169"/>
            <a:ext cx="3668235" cy="19967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984065" y="4496169"/>
            <a:ext cx="2143125" cy="2143125"/>
          </a:xfrm>
          <a:prstGeom prst="rect">
            <a:avLst/>
          </a:prstGeom>
        </p:spPr>
      </p:pic>
      <p:pic>
        <p:nvPicPr>
          <p:cNvPr id="5" name="Picture 4"/>
          <p:cNvPicPr>
            <a:picLocks noChangeAspect="1"/>
          </p:cNvPicPr>
          <p:nvPr/>
        </p:nvPicPr>
        <p:blipFill>
          <a:blip r:embed="rId4"/>
          <a:stretch>
            <a:fillRect/>
          </a:stretch>
        </p:blipFill>
        <p:spPr>
          <a:xfrm>
            <a:off x="8455987" y="4349750"/>
            <a:ext cx="2830711" cy="21431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Title 1"/>
          <p:cNvSpPr>
            <a:spLocks noGrp="1"/>
          </p:cNvSpPr>
          <p:nvPr>
            <p:ph type="title"/>
          </p:nvPr>
        </p:nvSpPr>
        <p:spPr>
          <a:xfrm>
            <a:off x="838200" y="0"/>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US" altLang="en-US" sz="4000" b="1" u="sng" dirty="0">
                <a:latin typeface="Times New Roman" panose="02020603050405020304" pitchFamily="18" charset="0"/>
                <a:ea typeface="Times New Roman" panose="02020603050405020304" pitchFamily="18" charset="0"/>
              </a:rPr>
              <a:t>EXISTING PRODUCT DETAIL</a:t>
            </a:r>
          </a:p>
        </p:txBody>
      </p:sp>
      <p:sp>
        <p:nvSpPr>
          <p:cNvPr id="3" name="Text Box 2"/>
          <p:cNvSpPr txBox="1"/>
          <p:nvPr/>
        </p:nvSpPr>
        <p:spPr>
          <a:xfrm>
            <a:off x="721995" y="1352540"/>
            <a:ext cx="10382885" cy="1027430"/>
          </a:xfrm>
          <a:prstGeom prst="rect">
            <a:avLst/>
          </a:prstGeom>
          <a:noFill/>
        </p:spPr>
        <p:txBody>
          <a:bodyPr wrap="square" rtlCol="0" anchor="t">
            <a:noAutofit/>
          </a:bodyPr>
          <a:lstStyle/>
          <a:p>
            <a:r>
              <a:rPr lang="en-US" altLang="en-US" sz="2000" dirty="0">
                <a:latin typeface="Times New Roman" panose="02020603050405020304" pitchFamily="18" charset="0"/>
                <a:cs typeface="Times New Roman" panose="02020603050405020304" pitchFamily="18" charset="0"/>
              </a:rPr>
              <a:t>A simple scarf is typically a rectangular piece of fabric worn around the neck, shoulders, or head for warmth, comfort, and style. It’s usually lightweight and versatile, suitable for everyday fashion or</a:t>
            </a:r>
            <a:r>
              <a:rPr lang=""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casual</a:t>
            </a:r>
            <a:r>
              <a:rPr lang=""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outings.</a:t>
            </a:r>
            <a:endParaRPr lang="en-US" sz="2000"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721995" y="2379970"/>
            <a:ext cx="9996170" cy="1938992"/>
          </a:xfrm>
          <a:prstGeom prst="rect">
            <a:avLst/>
          </a:prstGeom>
          <a:noFill/>
        </p:spPr>
        <p:txBody>
          <a:bodyPr wrap="square" rtlCol="0" anchor="t">
            <a:spAutoFit/>
          </a:bodyPr>
          <a:lstStyle/>
          <a:p>
            <a:r>
              <a:rPr lang="en-US" altLang="en-US" dirty="0"/>
              <a:t> </a:t>
            </a:r>
            <a:r>
              <a:rPr lang="en-US" altLang="en-US" sz="2000" dirty="0">
                <a:latin typeface="Times New Roman" panose="02020603050405020304" pitchFamily="18" charset="0"/>
                <a:cs typeface="Times New Roman" panose="02020603050405020304" pitchFamily="18" charset="0"/>
              </a:rPr>
              <a:t>Material :  Cotton, rayon, polyester, viscose, or soft blends — chosen for comfort and breathability. </a:t>
            </a:r>
          </a:p>
          <a:p>
            <a:r>
              <a:rPr lang="en-US" altLang="en-US" sz="2000" dirty="0">
                <a:latin typeface="Times New Roman" panose="02020603050405020304" pitchFamily="18" charset="0"/>
                <a:cs typeface="Times New Roman" panose="02020603050405020304" pitchFamily="18" charset="0"/>
              </a:rPr>
              <a:t> Shape     : Usually rectangular or long strip for wrapping around the neck. </a:t>
            </a:r>
          </a:p>
          <a:p>
            <a:r>
              <a:rPr lang="en-US" altLang="en-US" sz="2000" dirty="0">
                <a:latin typeface="Times New Roman" panose="02020603050405020304" pitchFamily="18" charset="0"/>
                <a:cs typeface="Times New Roman" panose="02020603050405020304" pitchFamily="18" charset="0"/>
              </a:rPr>
              <a:t> Use         : Everyday wear, layering, light warmth, casual style. </a:t>
            </a:r>
          </a:p>
          <a:p>
            <a:r>
              <a:rPr lang="en-US" altLang="en-US" sz="2000" dirty="0">
                <a:latin typeface="Times New Roman" panose="02020603050405020304" pitchFamily="18" charset="0"/>
                <a:cs typeface="Times New Roman" panose="02020603050405020304" pitchFamily="18" charset="0"/>
              </a:rPr>
              <a:t> Care        : Often hand wash or gentle machine wash depending on fabric. </a:t>
            </a:r>
          </a:p>
          <a:p>
            <a:r>
              <a:rPr lang="en-US" altLang="en-US" sz="2000" dirty="0">
                <a:latin typeface="Times New Roman" panose="02020603050405020304" pitchFamily="18" charset="0"/>
                <a:cs typeface="Times New Roman" panose="02020603050405020304" pitchFamily="18" charset="0"/>
              </a:rPr>
              <a:t> Size          : Commonly ~70–190 cm in length and ~50–80</a:t>
            </a:r>
            <a:r>
              <a:rPr lang=""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cm</a:t>
            </a:r>
            <a:r>
              <a:rPr lang=""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in</a:t>
            </a:r>
            <a:r>
              <a:rPr lang=""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width.</a:t>
            </a:r>
            <a:endParaRPr lang="en-US"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5237480" y="4461102"/>
            <a:ext cx="1245207" cy="1882547"/>
          </a:xfrm>
          <a:prstGeom prst="rect">
            <a:avLst/>
          </a:prstGeom>
        </p:spPr>
      </p:pic>
      <p:pic>
        <p:nvPicPr>
          <p:cNvPr id="6" name="Picture 5"/>
          <p:cNvPicPr>
            <a:picLocks noChangeAspect="1"/>
          </p:cNvPicPr>
          <p:nvPr/>
        </p:nvPicPr>
        <p:blipFill>
          <a:blip r:embed="rId3"/>
          <a:stretch>
            <a:fillRect/>
          </a:stretch>
        </p:blipFill>
        <p:spPr>
          <a:xfrm>
            <a:off x="2538435" y="4579107"/>
            <a:ext cx="1764542" cy="1764542"/>
          </a:xfrm>
          <a:prstGeom prst="rect">
            <a:avLst/>
          </a:prstGeom>
        </p:spPr>
      </p:pic>
      <p:pic>
        <p:nvPicPr>
          <p:cNvPr id="7" name="Picture 6"/>
          <p:cNvPicPr>
            <a:picLocks noChangeAspect="1"/>
          </p:cNvPicPr>
          <p:nvPr/>
        </p:nvPicPr>
        <p:blipFill>
          <a:blip r:embed="rId4"/>
          <a:stretch>
            <a:fillRect/>
          </a:stretch>
        </p:blipFill>
        <p:spPr>
          <a:xfrm>
            <a:off x="7417190" y="4466713"/>
            <a:ext cx="1876936" cy="187693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Title 1"/>
          <p:cNvSpPr>
            <a:spLocks noGrp="1"/>
          </p:cNvSpPr>
          <p:nvPr>
            <p:ph type="title"/>
          </p:nvPr>
        </p:nvSpPr>
        <p:spPr>
          <a:xfrm>
            <a:off x="727668" y="184254"/>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US" altLang="en-US" sz="4000" b="1" u="sng" dirty="0">
                <a:latin typeface="Times New Roman" panose="02020603050405020304" pitchFamily="18" charset="0"/>
                <a:ea typeface="Times New Roman" panose="02020603050405020304" pitchFamily="18" charset="0"/>
              </a:rPr>
              <a:t>SOLUTION (OR) PROPOSED DE</a:t>
            </a:r>
            <a:r>
              <a:rPr lang="en-US" altLang="en-US" b="1" u="sng" dirty="0">
                <a:latin typeface="Times New Roman" panose="02020603050405020304" pitchFamily="18" charset="0"/>
                <a:ea typeface="Times New Roman" panose="02020603050405020304" pitchFamily="18" charset="0"/>
              </a:rPr>
              <a:t>SIGN</a:t>
            </a:r>
          </a:p>
        </p:txBody>
      </p:sp>
      <p:sp>
        <p:nvSpPr>
          <p:cNvPr id="2" name="Content Placeholder 1"/>
          <p:cNvSpPr>
            <a:spLocks noGrp="1"/>
          </p:cNvSpPr>
          <p:nvPr>
            <p:ph idx="1"/>
          </p:nvPr>
        </p:nvSpPr>
        <p:spPr>
          <a:xfrm>
            <a:off x="727668" y="1648204"/>
            <a:ext cx="10515600" cy="4351337"/>
          </a:xfrm>
        </p:spPr>
        <p:txBody>
          <a:bodyPr/>
          <a:lstStyle/>
          <a:p>
            <a:r>
              <a:rPr lang="en-US" altLang="en-US" sz="2400" dirty="0">
                <a:latin typeface="Times New Roman" panose="02020603050405020304" pitchFamily="18" charset="0"/>
                <a:cs typeface="Times New Roman" panose="02020603050405020304" pitchFamily="18" charset="0"/>
              </a:rPr>
              <a:t>To address daily neck tension, stress, and the need for portable relaxation, the proposed solution is a Herbal Therapy Massaging Scarf — a wearable scarf that combines:</a:t>
            </a:r>
          </a:p>
          <a:p>
            <a:r>
              <a:rPr lang="en-US" altLang="en-US" sz="2400" dirty="0">
                <a:latin typeface="Times New Roman" panose="02020603050405020304" pitchFamily="18" charset="0"/>
                <a:cs typeface="Times New Roman" panose="02020603050405020304" pitchFamily="18" charset="0"/>
              </a:rPr>
              <a:t>Herbal heat therapy using natural pouches</a:t>
            </a:r>
          </a:p>
          <a:p>
            <a:r>
              <a:rPr lang="en-US" altLang="en-US" sz="2400" dirty="0">
                <a:latin typeface="Times New Roman" panose="02020603050405020304" pitchFamily="18" charset="0"/>
                <a:cs typeface="Times New Roman" panose="02020603050405020304" pitchFamily="18" charset="0"/>
              </a:rPr>
              <a:t>Targeted neck massage</a:t>
            </a:r>
          </a:p>
          <a:p>
            <a:r>
              <a:rPr lang="en-US" altLang="en-US" sz="2400" dirty="0">
                <a:latin typeface="Times New Roman" panose="02020603050405020304" pitchFamily="18" charset="0"/>
                <a:cs typeface="Times New Roman" panose="02020603050405020304" pitchFamily="18" charset="0"/>
              </a:rPr>
              <a:t>Soft, stylish scarf design for everyday use</a:t>
            </a:r>
          </a:p>
          <a:p>
            <a:pPr marL="0" indent="0">
              <a:buNone/>
            </a:pPr>
            <a:r>
              <a:rPr lang="en-US" altLang="en-US" sz="2400" b="1" dirty="0">
                <a:latin typeface="Times New Roman" panose="02020603050405020304" pitchFamily="18" charset="0"/>
                <a:cs typeface="Times New Roman" panose="02020603050405020304" pitchFamily="18" charset="0"/>
              </a:rPr>
              <a:t>Design Features &amp; Functionality</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Comfort-Based Design</a:t>
            </a:r>
          </a:p>
          <a:p>
            <a:r>
              <a:rPr lang="en-US" altLang="en-US" sz="2400" dirty="0">
                <a:latin typeface="Times New Roman" panose="02020603050405020304" pitchFamily="18" charset="0"/>
                <a:cs typeface="Times New Roman" panose="02020603050405020304" pitchFamily="18" charset="0"/>
              </a:rPr>
              <a:t>Lightweight and flexible</a:t>
            </a:r>
          </a:p>
          <a:p>
            <a:r>
              <a:rPr lang="en-US" altLang="en-US" sz="2400" dirty="0">
                <a:latin typeface="Times New Roman" panose="02020603050405020304" pitchFamily="18" charset="0"/>
                <a:cs typeface="Times New Roman" panose="02020603050405020304" pitchFamily="18" charset="0"/>
              </a:rPr>
              <a:t>Fits comfortably around the neck without bulk</a:t>
            </a:r>
          </a:p>
          <a:p>
            <a:r>
              <a:rPr lang="en-US" altLang="en-US" sz="2400" dirty="0">
                <a:latin typeface="Times New Roman" panose="02020603050405020304" pitchFamily="18" charset="0"/>
                <a:cs typeface="Times New Roman" panose="02020603050405020304" pitchFamily="18" charset="0"/>
              </a:rPr>
              <a:t>Designed for long usage in home, office, or travel environments</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a:xfrm>
            <a:off x="697523" y="-172252"/>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IN" altLang="en-US" sz="4000" b="1" u="sng" dirty="0">
                <a:latin typeface="Times New Roman" panose="02020603050405020304" pitchFamily="18" charset="0"/>
                <a:ea typeface="Times New Roman" panose="02020603050405020304" pitchFamily="18" charset="0"/>
              </a:rPr>
              <a:t>VALUE PROPORTION</a:t>
            </a:r>
          </a:p>
        </p:txBody>
      </p:sp>
      <p:sp>
        <p:nvSpPr>
          <p:cNvPr id="1048596" name="Content Placeholder 2"/>
          <p:cNvSpPr>
            <a:spLocks noGrp="1"/>
          </p:cNvSpPr>
          <p:nvPr>
            <p:ph idx="1"/>
          </p:nvPr>
        </p:nvSpPr>
        <p:spPr>
          <a:xfrm>
            <a:off x="486410" y="957580"/>
            <a:ext cx="10515600" cy="1497965"/>
          </a:xfrm>
          <a:prstGeom prst="rect">
            <a:avLst/>
          </a:prstGeom>
          <a:noFill/>
          <a:ln>
            <a:noFill/>
          </a:ln>
        </p:spPr>
        <p:txBody>
          <a:bodyPr vert="horz" lIns="91440" tIns="45720" rIns="91440" bIns="45720" anchor="t"/>
          <a:lstStyle>
            <a:lvl1pPr marL="228600" indent="-228600" algn="l" rtl="0" eaLnBrk="1" fontAlgn="base" latinLnBrk="0" hangingPunct="1">
              <a:lnSpc>
                <a:spcPct val="90000"/>
              </a:lnSpc>
              <a:spcBef>
                <a:spcPts val="1000"/>
              </a:spcBef>
              <a:spcAft>
                <a:spcPct val="0"/>
              </a:spcAft>
              <a:buSzPct val="100000"/>
              <a:buFont typeface="Arial" panose="020B0604020202020204" pitchFamily="34" charset="0"/>
              <a:buChar char="•"/>
              <a:defRPr sz="2800" b="0" i="0" u="none" baseline="0">
                <a:solidFill>
                  <a:schemeClr val="dk1"/>
                </a:solidFill>
                <a:latin typeface="Calibri" panose="020F0502020204030204" pitchFamily="34" charset="0"/>
                <a:sym typeface="Calibri" panose="020F0502020204030204" pitchFamily="34" charset="0"/>
              </a:defRPr>
            </a:lvl1pPr>
            <a:lvl2pPr marL="685800" indent="-228600" algn="l" rtl="0" eaLnBrk="1" fontAlgn="base" latinLnBrk="0" hangingPunct="1">
              <a:lnSpc>
                <a:spcPct val="90000"/>
              </a:lnSpc>
              <a:spcBef>
                <a:spcPts val="500"/>
              </a:spcBef>
              <a:spcAft>
                <a:spcPct val="0"/>
              </a:spcAft>
              <a:buSzPct val="100000"/>
              <a:buFont typeface="Arial" panose="020B0604020202020204" pitchFamily="34" charset="0"/>
              <a:buChar char="•"/>
              <a:defRPr sz="2400" b="0" i="0" u="none" baseline="0">
                <a:solidFill>
                  <a:schemeClr val="dk1"/>
                </a:solidFill>
                <a:latin typeface="Calibri" panose="020F0502020204030204" pitchFamily="34" charset="0"/>
                <a:sym typeface="Calibri" panose="020F0502020204030204" pitchFamily="34" charset="0"/>
              </a:defRPr>
            </a:lvl2pPr>
            <a:lvl3pPr marL="1143000" indent="-228600" algn="l" rtl="0" eaLnBrk="1" fontAlgn="base" latinLnBrk="0" hangingPunct="1">
              <a:lnSpc>
                <a:spcPct val="90000"/>
              </a:lnSpc>
              <a:spcBef>
                <a:spcPts val="500"/>
              </a:spcBef>
              <a:spcAft>
                <a:spcPct val="0"/>
              </a:spcAft>
              <a:buSzPct val="100000"/>
              <a:buFont typeface="Arial" panose="020B0604020202020204" pitchFamily="34" charset="0"/>
              <a:buChar char="•"/>
              <a:defRPr sz="2000" b="0" i="0" u="none" baseline="0">
                <a:solidFill>
                  <a:schemeClr val="dk1"/>
                </a:solidFill>
                <a:latin typeface="Calibri" panose="020F0502020204030204" pitchFamily="34" charset="0"/>
                <a:sym typeface="Calibri" panose="020F0502020204030204" pitchFamily="34" charset="0"/>
              </a:defRPr>
            </a:lvl3pPr>
            <a:lvl4pPr marL="1600200" indent="-228600" algn="l" rtl="0" eaLnBrk="1" fontAlgn="base" latinLnBrk="0" hangingPunct="1">
              <a:lnSpc>
                <a:spcPct val="90000"/>
              </a:lnSpc>
              <a:spcBef>
                <a:spcPts val="500"/>
              </a:spcBef>
              <a:spcAft>
                <a:spcPct val="0"/>
              </a:spcAft>
              <a:buSzPct val="100000"/>
              <a:buFont typeface="Arial" panose="020B0604020202020204" pitchFamily="34" charset="0"/>
              <a:buChar char="•"/>
              <a:defRPr sz="1800" b="0" i="0" u="none" baseline="0">
                <a:solidFill>
                  <a:schemeClr val="dk1"/>
                </a:solidFill>
                <a:latin typeface="Calibri" panose="020F0502020204030204" pitchFamily="34" charset="0"/>
                <a:sym typeface="Calibri" panose="020F0502020204030204" pitchFamily="34" charset="0"/>
              </a:defRPr>
            </a:lvl4pPr>
            <a:lvl5pPr marL="2057400" indent="-228600" algn="l" rtl="0" eaLnBrk="1" fontAlgn="base" latinLnBrk="0" hangingPunct="1">
              <a:lnSpc>
                <a:spcPct val="90000"/>
              </a:lnSpc>
              <a:spcBef>
                <a:spcPts val="500"/>
              </a:spcBef>
              <a:spcAft>
                <a:spcPct val="0"/>
              </a:spcAft>
              <a:buSzPct val="100000"/>
              <a:buFont typeface="Arial" panose="020B0604020202020204" pitchFamily="34" charset="0"/>
              <a:buChar char="•"/>
              <a:defRPr sz="1800" b="0" i="0" u="none" baseline="0">
                <a:solidFill>
                  <a:schemeClr val="dk1"/>
                </a:solidFill>
                <a:latin typeface="Calibri" panose="020F0502020204030204" pitchFamily="34" charset="0"/>
                <a:sym typeface="Calibri" panose="020F0502020204030204" pitchFamily="34" charset="0"/>
              </a:defRPr>
            </a:lvl5pPr>
          </a:lstStyle>
          <a:p>
            <a:pPr marL="0" indent="0" algn="just">
              <a:buNone/>
            </a:pPr>
            <a:r>
              <a:rPr lang="en-US" altLang="en-US" sz="2000" dirty="0">
                <a:latin typeface="Times New Roman" panose="02020603050405020304" pitchFamily="18" charset="0"/>
                <a:cs typeface="Times New Roman" panose="02020603050405020304" pitchFamily="18" charset="0"/>
              </a:rPr>
              <a:t>Instant neck relief, natural herbal comfort, and stylish warmth  all in one wearable product.</a:t>
            </a:r>
          </a:p>
          <a:p>
            <a:pPr marL="0" indent="0" algn="just">
              <a:buNone/>
            </a:pPr>
            <a:r>
              <a:rPr lang="en-US" altLang="en-US" sz="2000" dirty="0">
                <a:latin typeface="Times New Roman" panose="02020603050405020304" pitchFamily="18" charset="0"/>
                <a:cs typeface="Times New Roman" panose="02020603050405020304" pitchFamily="18" charset="0"/>
              </a:rPr>
              <a:t>The Herbal Therapy Massaging Scarf provides a unique combination of heat therapy, herbal aromatherapy, and vibration massage in a lightweight, fashionable scarf. It is designed for people who want portable relaxation, stress relief, and comfort.</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IN" altLang="en-US" sz="20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347345" y="2183130"/>
            <a:ext cx="6118225" cy="3847465"/>
          </a:xfrm>
          <a:prstGeom prst="rect">
            <a:avLst/>
          </a:prstGeom>
          <a:noFill/>
        </p:spPr>
        <p:txBody>
          <a:bodyPr wrap="square" rtlCol="0">
            <a:noAutofit/>
          </a:bodyPr>
          <a:lstStyle/>
          <a:p>
            <a:pPr marL="0" indent="0" algn="just">
              <a:buNone/>
            </a:pPr>
            <a:endParaRPr lang="en-US" altLang="en-US" sz="2000" b="1" dirty="0">
              <a:latin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cs typeface="Times New Roman" panose="02020603050405020304" pitchFamily="18" charset="0"/>
              </a:rPr>
              <a:t>3-in-1 Wellness Solution                                                             </a:t>
            </a:r>
            <a:endParaRPr lang="en-US" altLang="en-US" sz="2000" dirty="0">
              <a:latin typeface="Times New Roman" panose="02020603050405020304" pitchFamily="18" charset="0"/>
              <a:cs typeface="Times New Roman" panose="02020603050405020304" pitchFamily="18" charset="0"/>
            </a:endParaRPr>
          </a:p>
          <a:p>
            <a:pPr marL="0" indent="0" algn="just">
              <a:buNone/>
            </a:pPr>
            <a:r>
              <a:rPr lang="en-US" altLang="en-US" sz="2000" dirty="0">
                <a:latin typeface="Times New Roman" panose="02020603050405020304" pitchFamily="18" charset="0"/>
                <a:cs typeface="Times New Roman" panose="02020603050405020304" pitchFamily="18" charset="0"/>
              </a:rPr>
              <a:t>Combines warmth + herbal aroma + massage, </a:t>
            </a:r>
          </a:p>
          <a:p>
            <a:pPr marL="0" indent="0" algn="just">
              <a:buNone/>
            </a:pPr>
            <a:r>
              <a:rPr lang="en-US" altLang="en-US" sz="2000" dirty="0">
                <a:latin typeface="Times New Roman" panose="02020603050405020304" pitchFamily="18" charset="0"/>
                <a:cs typeface="Times New Roman" panose="02020603050405020304" pitchFamily="18" charset="0"/>
              </a:rPr>
              <a:t>replacing multiple products like heating pads, diffusers, </a:t>
            </a:r>
          </a:p>
          <a:p>
            <a:pPr marL="0" indent="0" algn="just">
              <a:buNone/>
            </a:pPr>
            <a:r>
              <a:rPr lang="en-US" altLang="en-US" sz="2000" dirty="0">
                <a:latin typeface="Times New Roman" panose="02020603050405020304" pitchFamily="18" charset="0"/>
                <a:cs typeface="Times New Roman" panose="02020603050405020304" pitchFamily="18" charset="0"/>
              </a:rPr>
              <a:t>and neck massagers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cs typeface="Times New Roman" panose="02020603050405020304" pitchFamily="18" charset="0"/>
              </a:rPr>
              <a:t>Natural Healing</a:t>
            </a:r>
            <a:endParaRPr lang="en-US" altLang="en-US" sz="2000" dirty="0">
              <a:latin typeface="Times New Roman" panose="02020603050405020304" pitchFamily="18" charset="0"/>
              <a:cs typeface="Times New Roman" panose="02020603050405020304" pitchFamily="18" charset="0"/>
            </a:endParaRPr>
          </a:p>
          <a:p>
            <a:pPr marL="0" indent="0" algn="just">
              <a:buNone/>
            </a:pPr>
            <a:r>
              <a:rPr lang="en-US" altLang="en-US" sz="2000" dirty="0">
                <a:latin typeface="Times New Roman" panose="02020603050405020304" pitchFamily="18" charset="0"/>
                <a:cs typeface="Times New Roman" panose="02020603050405020304" pitchFamily="18" charset="0"/>
              </a:rPr>
              <a:t>Herbal pouches provide calming aromatherapy </a:t>
            </a:r>
          </a:p>
          <a:p>
            <a:pPr marL="0" indent="0" algn="just">
              <a:buNone/>
            </a:pPr>
            <a:r>
              <a:rPr lang="en-US" altLang="en-US" sz="2000" dirty="0">
                <a:latin typeface="Times New Roman" panose="02020603050405020304" pitchFamily="18" charset="0"/>
                <a:cs typeface="Times New Roman" panose="02020603050405020304" pitchFamily="18" charset="0"/>
              </a:rPr>
              <a:t>using lavender, chamomile, peppermint, etc., </a:t>
            </a:r>
          </a:p>
          <a:p>
            <a:pPr marL="0" indent="0" algn="just">
              <a:buNone/>
            </a:pPr>
            <a:r>
              <a:rPr lang="en-US" altLang="en-US" sz="2000" dirty="0">
                <a:latin typeface="Times New Roman" panose="02020603050405020304" pitchFamily="18" charset="0"/>
                <a:cs typeface="Times New Roman" panose="02020603050405020304" pitchFamily="18" charset="0"/>
              </a:rPr>
              <a:t>offering relaxation without chemicals or medication.</a:t>
            </a:r>
          </a:p>
          <a:p>
            <a:pPr marL="0" indent="0" algn="just">
              <a:buNone/>
            </a:pPr>
            <a:endParaRPr lang="en-US" altLang="en-US" sz="2000" dirty="0">
              <a:latin typeface="Times New Roman" panose="02020603050405020304" pitchFamily="18" charset="0"/>
              <a:cs typeface="Times New Roman" panose="02020603050405020304" pitchFamily="18" charset="0"/>
            </a:endParaRPr>
          </a:p>
          <a:p>
            <a:pPr marL="0" indent="0" algn="just">
              <a:buNone/>
            </a:pPr>
            <a:endParaRPr lang="en-US" altLang="en-US" sz="20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515100" y="2447290"/>
            <a:ext cx="5044440" cy="3019425"/>
          </a:xfrm>
          <a:prstGeom prst="rect">
            <a:avLst/>
          </a:prstGeom>
          <a:noFill/>
        </p:spPr>
        <p:txBody>
          <a:bodyPr wrap="square" rtlCol="0">
            <a:noAutofit/>
          </a:bodyPr>
          <a:lstStyle/>
          <a:p>
            <a:r>
              <a:rPr lang="en-US" altLang="en-US" sz="2000" b="1">
                <a:latin typeface="Times New Roman" panose="02020603050405020304" pitchFamily="18" charset="0"/>
                <a:cs typeface="Times New Roman" panose="02020603050405020304" pitchFamily="18" charset="0"/>
              </a:rPr>
              <a:t>Easy to Use</a:t>
            </a:r>
            <a:endParaRPr lang="en-US" altLang="en-US" sz="2000"/>
          </a:p>
          <a:p>
            <a:r>
              <a:rPr lang="en-US" altLang="en-US" sz="2000">
                <a:latin typeface="Times New Roman" panose="02020603050405020304" pitchFamily="18" charset="0"/>
                <a:cs typeface="Times New Roman" panose="02020603050405020304" pitchFamily="18" charset="0"/>
              </a:rPr>
              <a:t>Simple one-button control for heat and massage settings, making it user-friendly for</a:t>
            </a:r>
            <a:r>
              <a:rPr lang=""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all</a:t>
            </a:r>
            <a:r>
              <a:rPr lang=""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age</a:t>
            </a:r>
            <a:r>
              <a:rPr lang=""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groups</a:t>
            </a:r>
            <a:r>
              <a:rPr lang="en-US" altLang="en-US"/>
              <a:t>.</a:t>
            </a:r>
          </a:p>
          <a:p>
            <a:endParaRPr 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Stylish &amp; Comfortable</a:t>
            </a:r>
          </a:p>
          <a:p>
            <a:r>
              <a:rPr lang="en-US" altLang="en-US">
                <a:latin typeface="Times New Roman" panose="02020603050405020304" pitchFamily="18" charset="0"/>
                <a:cs typeface="Times New Roman" panose="02020603050405020304" pitchFamily="18" charset="0"/>
              </a:rPr>
              <a:t>Looks like a regular scarf — soft, elegant, and wearable.</a:t>
            </a:r>
          </a:p>
          <a:p>
            <a:r>
              <a:rPr lang="en-US" altLang="en-US">
                <a:latin typeface="Times New Roman" panose="02020603050405020304" pitchFamily="18" charset="0"/>
                <a:cs typeface="Times New Roman" panose="02020603050405020304" pitchFamily="18" charset="0"/>
              </a:rPr>
              <a:t>People can use it daily without looking like they’re wearing a device</a:t>
            </a:r>
            <a:r>
              <a:rPr lang="en-US" altLang="en-US"/>
              <a:t>.</a:t>
            </a:r>
          </a:p>
          <a:p>
            <a:endParaRPr lang="en-US" altLang="en-US"/>
          </a:p>
        </p:txBody>
      </p:sp>
    </p:spTree>
  </p:cSld>
  <p:clrMapOvr>
    <a:masterClrMapping/>
  </p:clrMapOvr>
  <p:transition spd="slow">
    <p:comb/>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a:xfrm>
            <a:off x="566086" y="-97099"/>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US" altLang="en-US" sz="4000" b="1" u="sng" dirty="0">
                <a:latin typeface="Times New Roman" panose="02020603050405020304" pitchFamily="18" charset="0"/>
                <a:ea typeface="Times New Roman" panose="02020603050405020304" pitchFamily="18" charset="0"/>
              </a:rPr>
              <a:t>DESIGN</a:t>
            </a:r>
          </a:p>
        </p:txBody>
      </p:sp>
      <p:pic>
        <p:nvPicPr>
          <p:cNvPr id="2" name="Picture 1"/>
          <p:cNvPicPr>
            <a:picLocks noChangeAspect="1"/>
          </p:cNvPicPr>
          <p:nvPr/>
        </p:nvPicPr>
        <p:blipFill>
          <a:blip r:embed="rId2"/>
          <a:stretch>
            <a:fillRect/>
          </a:stretch>
        </p:blipFill>
        <p:spPr>
          <a:xfrm>
            <a:off x="894715" y="1021080"/>
            <a:ext cx="4815840" cy="4815840"/>
          </a:xfrm>
          <a:prstGeom prst="rect">
            <a:avLst/>
          </a:prstGeom>
        </p:spPr>
      </p:pic>
      <p:pic>
        <p:nvPicPr>
          <p:cNvPr id="3" name="Picture 2"/>
          <p:cNvPicPr>
            <a:picLocks noChangeAspect="1"/>
          </p:cNvPicPr>
          <p:nvPr/>
        </p:nvPicPr>
        <p:blipFill>
          <a:blip r:embed="rId3"/>
          <a:stretch>
            <a:fillRect/>
          </a:stretch>
        </p:blipFill>
        <p:spPr>
          <a:xfrm>
            <a:off x="5918835" y="1228725"/>
            <a:ext cx="6273165" cy="41808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nvSpPr>
        <p:spPr>
          <a:xfrm>
            <a:off x="566086" y="-97099"/>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US" altLang="en-US" sz="4000" b="1" u="sng" dirty="0">
                <a:latin typeface="Times New Roman" panose="02020603050405020304" pitchFamily="18" charset="0"/>
                <a:ea typeface="Times New Roman" panose="02020603050405020304" pitchFamily="18" charset="0"/>
              </a:rPr>
              <a:t>DESIGN</a:t>
            </a:r>
          </a:p>
        </p:txBody>
      </p:sp>
      <p:sp>
        <p:nvSpPr>
          <p:cNvPr id="5" name="Text Box 4"/>
          <p:cNvSpPr txBox="1"/>
          <p:nvPr/>
        </p:nvSpPr>
        <p:spPr>
          <a:xfrm>
            <a:off x="1207770" y="1228725"/>
            <a:ext cx="9371330" cy="3046988"/>
          </a:xfrm>
          <a:prstGeom prst="rect">
            <a:avLst/>
          </a:prstGeom>
        </p:spPr>
        <p:txBody>
          <a:bodyPr wrap="square">
            <a:spAutoFit/>
          </a:bodyPr>
          <a:lstStyle/>
          <a:p>
            <a:pPr marL="365760" indent="0" algn="just" defTabSz="266700">
              <a:spcBef>
                <a:spcPts val="600"/>
              </a:spcBef>
              <a:spcAft>
                <a:spcPct val="0"/>
              </a:spcAft>
            </a:pPr>
            <a:r>
              <a:rPr lang="en-US" altLang="zh-CN" sz="2000" dirty="0">
                <a:latin typeface="Times New Roman" panose="02020603050405020304"/>
                <a:ea typeface="Times New Roman" panose="02020603050405020304"/>
              </a:rPr>
              <a:t> </a:t>
            </a:r>
            <a:r>
              <a:rPr lang="en-US" altLang="zh-CN" sz="2400" dirty="0">
                <a:latin typeface="Times New Roman" panose="02020603050405020304"/>
                <a:ea typeface="Times New Roman" panose="02020603050405020304"/>
              </a:rPr>
              <a:t>The design of the Scarf with Massager focuses on merging economic comfort with therapeutic components in a compact and stylish structure. The outer body of the scarf is made using soft, lightweight, skin-friendly fabric such as fleece or wool to maintain warmth and comfort during usage. The internal layout is carefully planned to include motor pockets along the neck region, ensuring that the vibrating motion directly targets areas most affected by tension, such as the cervical muscles and upper shoulders. </a:t>
            </a:r>
          </a:p>
        </p:txBody>
      </p:sp>
      <p:pic>
        <p:nvPicPr>
          <p:cNvPr id="54" name="Picture 54" descr="C:\Users\User\Downloads\ChatGPT Image Dec 11, 2025, 11_59_21 A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2378227" y="4275713"/>
            <a:ext cx="3094526" cy="2062057"/>
          </a:xfrm>
          <a:prstGeom prst="rect">
            <a:avLst/>
          </a:prstGeom>
          <a:noFill/>
          <a:ln>
            <a:noFill/>
          </a:ln>
        </p:spPr>
      </p:pic>
      <p:pic>
        <p:nvPicPr>
          <p:cNvPr id="53" name="Picture 53" descr="C:\Users\User\Downloads\ChatGPT Image Dec 11, 2025, 11_56_54 AM.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6829709" y="4301098"/>
            <a:ext cx="2787574" cy="1857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69683"/>
            <a:ext cx="10515600" cy="4742180"/>
          </a:xfrm>
        </p:spPr>
        <p:txBody>
          <a:bodyPr/>
          <a:lstStyle/>
          <a:p>
            <a:pPr marL="0" indent="0">
              <a:buNone/>
            </a:pPr>
            <a:r>
              <a:rPr lang="en-US" altLang="en-US" sz="2400" dirty="0">
                <a:latin typeface="Times New Roman" panose="02020603050405020304" pitchFamily="18" charset="0"/>
                <a:cs typeface="Times New Roman" panose="02020603050405020304" pitchFamily="18" charset="0"/>
              </a:rPr>
              <a:t> Heat therapy and vibration therapy are the two major mechanisms widely used in pain-relief devices. Heat therapy improves blood circulation and loosens tight muscles, reducing stiffness and discomfort. This mechanism is commonly used in electric heating pads, hot water bags, and rechargeable heat packs. However, these devices are often not wearable, and most of them need to be plugged into a power source during use, making them suitable only for indoor settings.</a:t>
            </a:r>
          </a:p>
          <a:p>
            <a:pPr marL="0" indent="0">
              <a:buNone/>
            </a:pPr>
            <a:endParaRPr lang="en-US" altLang="en-US" sz="2400" dirty="0">
              <a:latin typeface="Times New Roman" panose="02020603050405020304" pitchFamily="18" charset="0"/>
              <a:cs typeface="Times New Roman" panose="02020603050405020304" pitchFamily="18" charset="0"/>
            </a:endParaRPr>
          </a:p>
        </p:txBody>
      </p:sp>
      <p:sp>
        <p:nvSpPr>
          <p:cNvPr id="1048598" name="Title 1"/>
          <p:cNvSpPr>
            <a:spLocks noGrp="1"/>
          </p:cNvSpPr>
          <p:nvPr/>
        </p:nvSpPr>
        <p:spPr>
          <a:xfrm>
            <a:off x="566086" y="-97099"/>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US" altLang="en-US" sz="4000" b="1" u="sng" dirty="0">
                <a:latin typeface="Times New Roman" panose="02020603050405020304" pitchFamily="18" charset="0"/>
                <a:ea typeface="Times New Roman" panose="02020603050405020304" pitchFamily="18" charset="0"/>
              </a:rPr>
              <a:t>DESIGN</a:t>
            </a:r>
          </a:p>
        </p:txBody>
      </p:sp>
      <p:pic>
        <p:nvPicPr>
          <p:cNvPr id="18" name="Image 18"/>
          <p:cNvPicPr/>
          <p:nvPr/>
        </p:nvPicPr>
        <p:blipFill>
          <a:blip r:embed="rId2" cstate="print"/>
          <a:stretch>
            <a:fillRect/>
          </a:stretch>
        </p:blipFill>
        <p:spPr>
          <a:xfrm>
            <a:off x="3392170" y="3640773"/>
            <a:ext cx="5704840" cy="2925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838200" y="-225184"/>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US" altLang="en-US" sz="4000" b="1" u="sng" dirty="0">
                <a:latin typeface="Times New Roman" panose="02020603050405020304" pitchFamily="18" charset="0"/>
                <a:ea typeface="Times New Roman" panose="02020603050405020304" pitchFamily="18" charset="0"/>
              </a:rPr>
              <a:t>WORKING OF INVENTION</a:t>
            </a:r>
          </a:p>
        </p:txBody>
      </p:sp>
      <p:sp>
        <p:nvSpPr>
          <p:cNvPr id="3" name="Text Box 2"/>
          <p:cNvSpPr txBox="1"/>
          <p:nvPr/>
        </p:nvSpPr>
        <p:spPr>
          <a:xfrm>
            <a:off x="650240" y="1100378"/>
            <a:ext cx="10195560" cy="4229735"/>
          </a:xfrm>
          <a:prstGeom prst="rect">
            <a:avLst/>
          </a:prstGeom>
        </p:spPr>
        <p:txBody>
          <a:bodyPr wrap="square">
            <a:noAutofit/>
          </a:bodyPr>
          <a:lstStyle/>
          <a:p>
            <a:pPr algn="just" defTabSz="266700">
              <a:lnSpc>
                <a:spcPct val="150000"/>
              </a:lnSpc>
            </a:pPr>
            <a:r>
              <a:rPr lang="en-US" sz="2000" dirty="0">
                <a:latin typeface="Times New Roman" panose="02020603050405020304" pitchFamily="18" charset="0"/>
                <a:cs typeface="Times New Roman" panose="02020603050405020304" pitchFamily="18" charset="0"/>
              </a:rPr>
              <a:t>The Scarf with Massager operates using a compact electro-therapeutic system integrated into a soft wearable fabric. When powered on, the rechargeable battery supplies regulated energy to the vibration motors and heating unit. Users can select Massage Only or Massage + Heat modes through the control button. The vibration motors at the neck and shoulder areas provide gentle cyclic vibrations to relax muscles and improve blood circulation. This design helps relieve muscle stiffness caused by prolonged work, mobile usage, driving, and cold exposure while ensuring comfort during extended use.</a:t>
            </a:r>
          </a:p>
          <a:p>
            <a:pPr marL="0" indent="0" algn="just" defTabSz="266700">
              <a:lnSpc>
                <a:spcPct val="150000"/>
              </a:lnSpc>
              <a:spcBef>
                <a:spcPct val="0"/>
              </a:spcBef>
              <a:spcAft>
                <a:spcPct val="0"/>
              </a:spcAft>
            </a:pPr>
            <a:endParaRPr lang="en-US" altLang="zh-CN" sz="2000" dirty="0">
              <a:latin typeface="Times New Roman" panose="02020603050405020304"/>
              <a:ea typeface="SimSun" panose="02010600030101010101" pitchFamily="2" charset="-122"/>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28820" y="3966983"/>
            <a:ext cx="2438400" cy="2639776"/>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9930" t="11777" r="8143" b="10959"/>
          <a:stretch/>
        </p:blipFill>
        <p:spPr>
          <a:xfrm>
            <a:off x="7775623" y="4391521"/>
            <a:ext cx="2933700" cy="1790700"/>
          </a:xfrm>
          <a:prstGeom prst="rect">
            <a:avLst/>
          </a:prstGeom>
        </p:spPr>
      </p:pic>
    </p:spTree>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52442" y="79974"/>
            <a:ext cx="3289683" cy="707886"/>
          </a:xfrm>
          <a:prstGeom prst="rect">
            <a:avLst/>
          </a:prstGeom>
        </p:spPr>
        <p:txBody>
          <a:bodyPr wrap="none">
            <a:spAutoFit/>
          </a:bodyPr>
          <a:lstStyle/>
          <a:p>
            <a:r>
              <a:rPr lang="en-IN" sz="4000" b="1" u="sng" dirty="0">
                <a:latin typeface="Times New Roman" panose="02020603050405020304" pitchFamily="18" charset="0"/>
                <a:cs typeface="Times New Roman" panose="02020603050405020304" pitchFamily="18" charset="0"/>
              </a:rPr>
              <a:t>MATERIALS</a:t>
            </a:r>
          </a:p>
        </p:txBody>
      </p:sp>
      <p:sp>
        <p:nvSpPr>
          <p:cNvPr id="6" name="Rectangle 5"/>
          <p:cNvSpPr/>
          <p:nvPr/>
        </p:nvSpPr>
        <p:spPr>
          <a:xfrm>
            <a:off x="2101908" y="1258358"/>
            <a:ext cx="8513736" cy="2062103"/>
          </a:xfrm>
          <a:prstGeom prst="rect">
            <a:avLst/>
          </a:prstGeom>
        </p:spPr>
        <p:txBody>
          <a:bodyPr wrap="square">
            <a:spAutoFit/>
          </a:bodyPr>
          <a:lstStyle/>
          <a:p>
            <a:r>
              <a:rPr lang="en-IN" sz="3200" dirty="0" smtClean="0">
                <a:latin typeface="Times New Roman" panose="02020603050405020304" pitchFamily="18" charset="0"/>
                <a:cs typeface="Times New Roman" panose="02020603050405020304" pitchFamily="18" charset="0"/>
              </a:rPr>
              <a:t>Outer </a:t>
            </a:r>
            <a:r>
              <a:rPr lang="en-IN" sz="3200" dirty="0">
                <a:latin typeface="Times New Roman" panose="02020603050405020304" pitchFamily="18" charset="0"/>
                <a:cs typeface="Times New Roman" panose="02020603050405020304" pitchFamily="18" charset="0"/>
              </a:rPr>
              <a:t>Fabric: Soft wool blend or microfiber</a:t>
            </a:r>
            <a:r>
              <a:rPr lang="en-IN" sz="3200" dirty="0" smtClean="0">
                <a:latin typeface="Times New Roman" panose="02020603050405020304" pitchFamily="18" charset="0"/>
                <a:cs typeface="Times New Roman" panose="02020603050405020304" pitchFamily="18" charset="0"/>
              </a:rPr>
              <a:t>.</a:t>
            </a:r>
          </a:p>
          <a:p>
            <a:r>
              <a:rPr lang="en-IN" sz="3200" dirty="0" smtClean="0">
                <a:latin typeface="Times New Roman" panose="02020603050405020304" pitchFamily="18" charset="0"/>
                <a:cs typeface="Times New Roman" panose="02020603050405020304" pitchFamily="18" charset="0"/>
              </a:rPr>
              <a:t>Inner </a:t>
            </a:r>
            <a:r>
              <a:rPr lang="en-IN" sz="3200" dirty="0">
                <a:latin typeface="Times New Roman" panose="02020603050405020304" pitchFamily="18" charset="0"/>
                <a:cs typeface="Times New Roman" panose="02020603050405020304" pitchFamily="18" charset="0"/>
              </a:rPr>
              <a:t>Lining: Cotton insulation layer</a:t>
            </a:r>
            <a:r>
              <a:rPr lang="en-IN" sz="3200" dirty="0" smtClean="0">
                <a:latin typeface="Times New Roman" panose="02020603050405020304" pitchFamily="18" charset="0"/>
                <a:cs typeface="Times New Roman" panose="02020603050405020304" pitchFamily="18" charset="0"/>
              </a:rPr>
              <a:t>.</a:t>
            </a:r>
          </a:p>
          <a:p>
            <a:r>
              <a:rPr lang="en-US" sz="3200" dirty="0" smtClean="0">
                <a:latin typeface="Times New Roman" panose="02020603050405020304" pitchFamily="18" charset="0"/>
                <a:cs typeface="Times New Roman" panose="02020603050405020304" pitchFamily="18" charset="0"/>
              </a:rPr>
              <a:t>Herbal </a:t>
            </a:r>
            <a:r>
              <a:rPr lang="en-US" sz="3200" dirty="0" err="1" smtClean="0">
                <a:latin typeface="Times New Roman" panose="02020603050405020304" pitchFamily="18" charset="0"/>
                <a:cs typeface="Times New Roman" panose="02020603050405020304" pitchFamily="18" charset="0"/>
              </a:rPr>
              <a:t>fillings:Eucalyptus,camphor,mint</a:t>
            </a:r>
            <a:endParaRPr lang="en-IN" sz="3200" dirty="0" smtClean="0">
              <a:latin typeface="Times New Roman" panose="02020603050405020304" pitchFamily="18" charset="0"/>
              <a:cs typeface="Times New Roman" panose="02020603050405020304" pitchFamily="18" charset="0"/>
            </a:endParaRPr>
          </a:p>
          <a:p>
            <a:r>
              <a:rPr lang="en-IN" sz="3200" dirty="0" smtClean="0">
                <a:latin typeface="Times New Roman" panose="02020603050405020304" pitchFamily="18" charset="0"/>
                <a:cs typeface="Times New Roman" panose="02020603050405020304" pitchFamily="18" charset="0"/>
              </a:rPr>
              <a:t>Power</a:t>
            </a:r>
            <a:r>
              <a:rPr lang="en-IN" sz="3200" dirty="0">
                <a:latin typeface="Times New Roman" panose="02020603050405020304" pitchFamily="18" charset="0"/>
                <a:cs typeface="Times New Roman" panose="02020603050405020304" pitchFamily="18" charset="0"/>
              </a:rPr>
              <a:t>: 3.7 V rechargeable battery.</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123" y="3893544"/>
            <a:ext cx="2623634" cy="2216141"/>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244" y="3893544"/>
            <a:ext cx="2534022" cy="2216718"/>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8742" y="3893544"/>
            <a:ext cx="3050906" cy="2188629"/>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87124" y="3929152"/>
            <a:ext cx="2293265" cy="2188629"/>
          </a:xfrm>
          <a:prstGeom prst="rect">
            <a:avLst/>
          </a:prstGeom>
        </p:spPr>
      </p:pic>
    </p:spTree>
    <p:extLst>
      <p:ext uri="{BB962C8B-B14F-4D97-AF65-F5344CB8AC3E}">
        <p14:creationId xmlns:p14="http://schemas.microsoft.com/office/powerpoint/2010/main" val="3296228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1"/>
          <p:cNvSpPr>
            <a:spLocks noGrp="1"/>
          </p:cNvSpPr>
          <p:nvPr>
            <p:ph type="title"/>
          </p:nvPr>
        </p:nvSpPr>
        <p:spPr>
          <a:xfrm>
            <a:off x="838200" y="-72231"/>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IN" altLang="en-US" b="1" u="sng" dirty="0">
                <a:latin typeface="Times New Roman" panose="02020603050405020304" pitchFamily="18" charset="0"/>
                <a:ea typeface="Times New Roman" panose="02020603050405020304" pitchFamily="18" charset="0"/>
              </a:rPr>
              <a:t>FLOWCHART</a:t>
            </a:r>
          </a:p>
        </p:txBody>
      </p:sp>
      <p:pic>
        <p:nvPicPr>
          <p:cNvPr id="51" name="Picture 51" descr="C:\Users\User\Downloads\WhatsApp Image 2025-12-11 at 10.54.52 AM.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475457" y="1253331"/>
            <a:ext cx="7241085" cy="482300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466190" y="431785"/>
            <a:ext cx="7764780" cy="646331"/>
          </a:xfrm>
          <a:prstGeom prst="rect">
            <a:avLst/>
          </a:prstGeom>
        </p:spPr>
        <p:txBody>
          <a:bodyPr wrap="square">
            <a:spAutoFit/>
          </a:bodyPr>
          <a:lstStyle/>
          <a:p>
            <a:r>
              <a:rPr lang="en-IN" sz="3600" dirty="0" smtClean="0"/>
              <a:t> </a:t>
            </a:r>
            <a:r>
              <a:rPr lang="en-IN" sz="4000" b="1" u="sng" dirty="0">
                <a:latin typeface="Times New Roman" panose="02020603050405020304" pitchFamily="18" charset="0"/>
                <a:cs typeface="Times New Roman" panose="02020603050405020304" pitchFamily="18" charset="0"/>
              </a:rPr>
              <a:t>REVENUE </a:t>
            </a:r>
            <a:r>
              <a:rPr lang="en-IN" sz="4000" b="1" u="sng" dirty="0" smtClean="0">
                <a:latin typeface="Times New Roman" panose="02020603050405020304" pitchFamily="18" charset="0"/>
                <a:cs typeface="Times New Roman" panose="02020603050405020304" pitchFamily="18" charset="0"/>
              </a:rPr>
              <a:t>MODEL </a:t>
            </a:r>
            <a:endParaRPr lang="en-IN" sz="3600" b="1" u="sng" dirty="0">
              <a:latin typeface="Times New Roman" panose="02020603050405020304" pitchFamily="18" charset="0"/>
              <a:cs typeface="Times New Roman" panose="02020603050405020304" pitchFamily="18" charset="0"/>
            </a:endParaRPr>
          </a:p>
        </p:txBody>
      </p:sp>
      <p:sp>
        <p:nvSpPr>
          <p:cNvPr id="6" name="Rectangle 5"/>
          <p:cNvSpPr/>
          <p:nvPr/>
        </p:nvSpPr>
        <p:spPr>
          <a:xfrm>
            <a:off x="1701325" y="1535365"/>
            <a:ext cx="9144000" cy="2246769"/>
          </a:xfrm>
          <a:prstGeom prst="rect">
            <a:avLst/>
          </a:prstGeom>
        </p:spPr>
        <p:txBody>
          <a:bodyPr wrap="square">
            <a:spAutoFit/>
          </a:bodyPr>
          <a:lstStyle/>
          <a:p>
            <a:r>
              <a:rPr lang="en-IN" sz="2800" dirty="0" smtClean="0">
                <a:latin typeface="Times New Roman" panose="02020603050405020304" pitchFamily="18" charset="0"/>
                <a:cs typeface="Times New Roman" panose="02020603050405020304" pitchFamily="18" charset="0"/>
              </a:rPr>
              <a:t>Direct </a:t>
            </a:r>
            <a:r>
              <a:rPr lang="en-IN" sz="2800" dirty="0">
                <a:latin typeface="Times New Roman" panose="02020603050405020304" pitchFamily="18" charset="0"/>
                <a:cs typeface="Times New Roman" panose="02020603050405020304" pitchFamily="18" charset="0"/>
              </a:rPr>
              <a:t>Sales: Online and retail sales of scarves</a:t>
            </a:r>
            <a:r>
              <a:rPr lang="en-IN" sz="2800" dirty="0" smtClean="0">
                <a:latin typeface="Times New Roman" panose="02020603050405020304" pitchFamily="18" charset="0"/>
                <a:cs typeface="Times New Roman" panose="02020603050405020304" pitchFamily="18" charset="0"/>
              </a:rPr>
              <a:t>.</a:t>
            </a:r>
          </a:p>
          <a:p>
            <a:r>
              <a:rPr lang="en-IN" sz="2800" dirty="0" smtClean="0">
                <a:latin typeface="Times New Roman" panose="02020603050405020304" pitchFamily="18" charset="0"/>
                <a:cs typeface="Times New Roman" panose="02020603050405020304" pitchFamily="18" charset="0"/>
              </a:rPr>
              <a:t>Premium </a:t>
            </a:r>
            <a:r>
              <a:rPr lang="en-IN" sz="2800" dirty="0">
                <a:latin typeface="Times New Roman" panose="02020603050405020304" pitchFamily="18" charset="0"/>
                <a:cs typeface="Times New Roman" panose="02020603050405020304" pitchFamily="18" charset="0"/>
              </a:rPr>
              <a:t>Versions: Added heating or Bluetooth control</a:t>
            </a:r>
            <a:r>
              <a:rPr lang="en-IN" sz="2800" dirty="0" smtClean="0">
                <a:latin typeface="Times New Roman" panose="02020603050405020304" pitchFamily="18" charset="0"/>
                <a:cs typeface="Times New Roman" panose="02020603050405020304" pitchFamily="18" charset="0"/>
              </a:rPr>
              <a:t>.</a:t>
            </a:r>
          </a:p>
          <a:p>
            <a:r>
              <a:rPr lang="en-IN" sz="2800" dirty="0" smtClean="0">
                <a:latin typeface="Times New Roman" panose="02020603050405020304" pitchFamily="18" charset="0"/>
                <a:cs typeface="Times New Roman" panose="02020603050405020304" pitchFamily="18" charset="0"/>
              </a:rPr>
              <a:t>Accessories</a:t>
            </a:r>
            <a:r>
              <a:rPr lang="en-IN" sz="2800" dirty="0">
                <a:latin typeface="Times New Roman" panose="02020603050405020304" pitchFamily="18" charset="0"/>
                <a:cs typeface="Times New Roman" panose="02020603050405020304" pitchFamily="18" charset="0"/>
              </a:rPr>
              <a:t>: Extra batteries, fabric covers, and charging pouches</a:t>
            </a:r>
            <a:r>
              <a:rPr lang="en-IN" sz="2800" dirty="0" smtClean="0">
                <a:latin typeface="Times New Roman" panose="02020603050405020304" pitchFamily="18" charset="0"/>
                <a:cs typeface="Times New Roman" panose="02020603050405020304" pitchFamily="18" charset="0"/>
              </a:rPr>
              <a:t>.</a:t>
            </a:r>
          </a:p>
          <a:p>
            <a:r>
              <a:rPr lang="en-IN" sz="2800" dirty="0" smtClean="0">
                <a:latin typeface="Times New Roman" panose="02020603050405020304" pitchFamily="18" charset="0"/>
                <a:cs typeface="Times New Roman" panose="02020603050405020304" pitchFamily="18" charset="0"/>
              </a:rPr>
              <a:t>Bulk </a:t>
            </a:r>
            <a:r>
              <a:rPr lang="en-IN" sz="2800" dirty="0">
                <a:latin typeface="Times New Roman" panose="02020603050405020304" pitchFamily="18" charset="0"/>
                <a:cs typeface="Times New Roman" panose="02020603050405020304" pitchFamily="18" charset="0"/>
              </a:rPr>
              <a:t>Sales: Corporate wellness gifts and travel accessories.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5673" y="4098128"/>
            <a:ext cx="1955925" cy="2047118"/>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3325" y="4239384"/>
            <a:ext cx="2270174" cy="2001398"/>
          </a:xfrm>
          <a:prstGeom prst="rect">
            <a:avLst/>
          </a:prstGeom>
        </p:spPr>
      </p:pic>
    </p:spTree>
    <p:extLst>
      <p:ext uri="{BB962C8B-B14F-4D97-AF65-F5344CB8AC3E}">
        <p14:creationId xmlns:p14="http://schemas.microsoft.com/office/powerpoint/2010/main" val="812220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2"/>
          </a:xfrm>
        </p:spPr>
        <p:txBody>
          <a:bodyPr/>
          <a:lstStyle/>
          <a:p>
            <a:pPr algn="ctr"/>
            <a:r>
              <a:rPr lang="en-IN" altLang="en-US" sz="4000" b="1" u="sng" dirty="0">
                <a:latin typeface="Times New Roman" pitchFamily="18" charset="0"/>
                <a:ea typeface="Times New Roman" pitchFamily="18" charset="0"/>
              </a:rPr>
              <a:t>TARGET MARKETING</a:t>
            </a:r>
            <a:endParaRPr lang="en-US" sz="4000" dirty="0"/>
          </a:p>
        </p:txBody>
      </p:sp>
      <p:sp>
        <p:nvSpPr>
          <p:cNvPr id="3" name="Content Placeholder 2"/>
          <p:cNvSpPr>
            <a:spLocks noGrp="1"/>
          </p:cNvSpPr>
          <p:nvPr>
            <p:ph idx="1"/>
          </p:nvPr>
        </p:nvSpPr>
        <p:spPr>
          <a:xfrm>
            <a:off x="524302" y="2285952"/>
            <a:ext cx="3501787" cy="365171"/>
          </a:xfrm>
        </p:spPr>
        <p:txBody>
          <a:bodyPr/>
          <a:lstStyle/>
          <a:p>
            <a:r>
              <a:rPr lang="en-US" sz="2200" dirty="0" smtClean="0">
                <a:latin typeface="Times New Roman" panose="02020603050405020304" pitchFamily="18" charset="0"/>
                <a:cs typeface="Times New Roman" panose="02020603050405020304" pitchFamily="18" charset="0"/>
              </a:rPr>
              <a:t>PRIMARY AUDIENCE</a:t>
            </a:r>
            <a:endParaRPr lang="en-US" sz="2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4537" r="13441"/>
          <a:stretch/>
        </p:blipFill>
        <p:spPr>
          <a:xfrm>
            <a:off x="4476465" y="1546542"/>
            <a:ext cx="3043451" cy="2209161"/>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7145" y="1325562"/>
            <a:ext cx="2497541" cy="2497541"/>
          </a:xfrm>
          <a:prstGeom prst="rect">
            <a:avLst/>
          </a:prstGeom>
        </p:spPr>
      </p:pic>
      <p:sp>
        <p:nvSpPr>
          <p:cNvPr id="8" name="TextBox 7"/>
          <p:cNvSpPr txBox="1"/>
          <p:nvPr/>
        </p:nvSpPr>
        <p:spPr>
          <a:xfrm>
            <a:off x="524302" y="5036025"/>
            <a:ext cx="3952163" cy="430887"/>
          </a:xfrm>
          <a:prstGeom prst="rect">
            <a:avLst/>
          </a:prstGeom>
          <a:noFill/>
        </p:spPr>
        <p:txBody>
          <a:bodyPr wrap="square" rtlCol="0">
            <a:spAutoFit/>
          </a:bodyPr>
          <a:lstStyle/>
          <a:p>
            <a:pPr marL="342900" indent="-342900">
              <a:buFont typeface="Arial" panose="020B0604020202020204" pitchFamily="34" charset="0"/>
              <a:buChar char="•"/>
            </a:pPr>
            <a:r>
              <a:rPr lang="en-US" sz="2150" dirty="0" smtClean="0">
                <a:latin typeface="Times New Roman" panose="02020603050405020304" pitchFamily="18" charset="0"/>
                <a:cs typeface="Times New Roman" panose="02020603050405020304" pitchFamily="18" charset="0"/>
              </a:rPr>
              <a:t>SECONDARY AUDIENCE</a:t>
            </a:r>
            <a:endParaRPr lang="en-US" sz="215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87403" y="4289041"/>
            <a:ext cx="2355742" cy="2355742"/>
          </a:xfrm>
          <a:prstGeom prst="rect">
            <a:avLst/>
          </a:prstGeom>
        </p:spPr>
      </p:pic>
    </p:spTree>
    <p:extLst>
      <p:ext uri="{BB962C8B-B14F-4D97-AF65-F5344CB8AC3E}">
        <p14:creationId xmlns:p14="http://schemas.microsoft.com/office/powerpoint/2010/main" val="4230177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a:xfrm>
            <a:off x="838200" y="-72231"/>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IN" altLang="en-US" sz="4000" b="1" u="sng" dirty="0">
                <a:latin typeface="Times New Roman" panose="02020603050405020304" pitchFamily="18" charset="0"/>
                <a:ea typeface="Times New Roman" panose="02020603050405020304" pitchFamily="18" charset="0"/>
              </a:rPr>
              <a:t>MARKETING STRATEGY</a:t>
            </a:r>
          </a:p>
        </p:txBody>
      </p:sp>
      <p:pic>
        <p:nvPicPr>
          <p:cNvPr id="5122" name="Picture 2" descr="248,000+ Digital Marketing Stock Photos, Pictures &amp; Royalty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1350" y="4793396"/>
            <a:ext cx="245745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ublic Relations Marketing Photos, Images &amp; Picture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979" y="4793396"/>
            <a:ext cx="2457450" cy="1567542"/>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838200" y="1253490"/>
            <a:ext cx="10377805" cy="4094480"/>
          </a:xfrm>
        </p:spPr>
        <p:txBody>
          <a:bodyPr/>
          <a:lstStyle/>
          <a:p>
            <a:pPr marL="0" indent="0">
              <a:buNone/>
            </a:pPr>
            <a:r>
              <a:rPr lang="en-US" altLang="en-US" sz="2600" dirty="0" smtClean="0">
                <a:latin typeface="Times New Roman" panose="02020603050405020304" pitchFamily="18" charset="0"/>
                <a:cs typeface="Times New Roman" panose="02020603050405020304" pitchFamily="18" charset="0"/>
              </a:rPr>
              <a:t>The </a:t>
            </a:r>
            <a:r>
              <a:rPr lang="en-US" altLang="en-US" sz="2600" dirty="0">
                <a:latin typeface="Times New Roman" panose="02020603050405020304" pitchFamily="18" charset="0"/>
                <a:cs typeface="Times New Roman" panose="02020603050405020304" pitchFamily="18" charset="0"/>
              </a:rPr>
              <a:t>marketing strategy for the Scarf with Massager focuses on creating a strong brand presence by highlighting the product’s unique benefits and real-life applications. To begin with, online promotion plays a central role, as digital platforms allow targeted advertisements to reach specific groups such as students, working professionals, elderly individuals, and frequent </a:t>
            </a:r>
            <a:r>
              <a:rPr lang="en-US" altLang="en-US" sz="2600" dirty="0" err="1">
                <a:latin typeface="Times New Roman" panose="02020603050405020304" pitchFamily="18" charset="0"/>
                <a:cs typeface="Times New Roman" panose="02020603050405020304" pitchFamily="18" charset="0"/>
              </a:rPr>
              <a:t>travellers</a:t>
            </a:r>
            <a:r>
              <a:rPr lang="en-US" altLang="en-US" sz="2600" dirty="0">
                <a:latin typeface="Times New Roman" panose="02020603050405020304" pitchFamily="18" charset="0"/>
                <a:cs typeface="Times New Roman" panose="02020603050405020304" pitchFamily="18" charset="0"/>
              </a:rPr>
              <a:t>. Social media platforms like </a:t>
            </a:r>
            <a:r>
              <a:rPr lang="en-US" altLang="en-US" sz="2600" dirty="0" err="1">
                <a:latin typeface="Times New Roman" panose="02020603050405020304" pitchFamily="18" charset="0"/>
                <a:cs typeface="Times New Roman" panose="02020603050405020304" pitchFamily="18" charset="0"/>
              </a:rPr>
              <a:t>Instagram</a:t>
            </a:r>
            <a:r>
              <a:rPr lang="en-US" altLang="en-US" sz="2600" dirty="0">
                <a:latin typeface="Times New Roman" panose="02020603050405020304" pitchFamily="18" charset="0"/>
                <a:cs typeface="Times New Roman" panose="02020603050405020304" pitchFamily="18" charset="0"/>
              </a:rPr>
              <a:t>, Facebook, YouTube, and </a:t>
            </a:r>
            <a:r>
              <a:rPr lang="en-US" altLang="en-US" sz="2600" dirty="0" err="1">
                <a:latin typeface="Times New Roman" panose="02020603050405020304" pitchFamily="18" charset="0"/>
                <a:cs typeface="Times New Roman" panose="02020603050405020304" pitchFamily="18" charset="0"/>
              </a:rPr>
              <a:t>TikTok</a:t>
            </a:r>
            <a:r>
              <a:rPr lang="en-US" altLang="en-US" sz="2600" dirty="0">
                <a:latin typeface="Times New Roman" panose="02020603050405020304" pitchFamily="18" charset="0"/>
                <a:cs typeface="Times New Roman" panose="02020603050405020304" pitchFamily="18" charset="0"/>
              </a:rPr>
              <a:t> can be used to showcase short demonstration videos that explain how the scarf works and how easily it fits into everyday life.</a:t>
            </a: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27208" y="4616082"/>
            <a:ext cx="2459363" cy="176432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6761"/>
            <a:ext cx="10515600" cy="1325562"/>
          </a:xfrm>
        </p:spPr>
        <p:txBody>
          <a:bodyPr/>
          <a:lstStyle/>
          <a:p>
            <a:pPr algn="ctr"/>
            <a:r>
              <a:rPr lang="en-US" sz="4000" b="1" u="sng" dirty="0">
                <a:latin typeface="Times New Roman" panose="02020603050405020304" pitchFamily="18" charset="0"/>
                <a:cs typeface="Times New Roman" panose="02020603050405020304" pitchFamily="18" charset="0"/>
              </a:rPr>
              <a:t>SURVEY REPORT</a:t>
            </a:r>
          </a:p>
        </p:txBody>
      </p:sp>
      <p:sp>
        <p:nvSpPr>
          <p:cNvPr id="3" name="Content Placeholder 2"/>
          <p:cNvSpPr>
            <a:spLocks noGrp="1"/>
          </p:cNvSpPr>
          <p:nvPr>
            <p:ph idx="1"/>
          </p:nvPr>
        </p:nvSpPr>
        <p:spPr>
          <a:xfrm>
            <a:off x="838200" y="1581505"/>
            <a:ext cx="10515600" cy="4351337"/>
          </a:xfrm>
        </p:spPr>
        <p:txBody>
          <a:bodyPr/>
          <a:lstStyle/>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       The target users for the Scarf with Massager clearly demonstrate a strong and diverse demand for portable relaxation solutions. From working professionals and students to elderly individuals and frequent travelers, the product serves multiple lifestyle needs. Each segment benefits uniquely from the combined warmth and massage features. The invention successfully caters to users seeking comfort, convenience, and effective pain relief in their daily routines.</a:t>
            </a: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      Wellness-conscious users, fitness enthusiasts, and individuals recovering from minor muscle injuries also form a strong segment, as they seek easy-to-use products that promote relaxation and stress relief. Overall, the customer segment for the Scarf with Massager is broad and diverse, covering people of all age groups, lifestyles, and work environments, which significantly increases the market potential and commercial viability of the product.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a:xfrm>
            <a:off x="1808983" y="145231"/>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r>
              <a:rPr lang="en-US" altLang="en-US" sz="4000" b="1" u="sng" dirty="0">
                <a:latin typeface="Times New Roman" panose="02020603050405020304" pitchFamily="18" charset="0"/>
                <a:ea typeface="Times New Roman" panose="02020603050405020304" pitchFamily="18" charset="0"/>
              </a:rPr>
              <a:t>HIGHLIGHTED SURVEY REPORT </a:t>
            </a:r>
          </a:p>
        </p:txBody>
      </p:sp>
      <p:graphicFrame>
        <p:nvGraphicFramePr>
          <p:cNvPr id="3" name="Chart 7"/>
          <p:cNvGraphicFramePr/>
          <p:nvPr>
            <p:extLst>
              <p:ext uri="{D42A27DB-BD31-4B8C-83A1-F6EECF244321}">
                <p14:modId xmlns:p14="http://schemas.microsoft.com/office/powerpoint/2010/main" val="2592563477"/>
              </p:ext>
            </p:extLst>
          </p:nvPr>
        </p:nvGraphicFramePr>
        <p:xfrm>
          <a:off x="177420" y="1327762"/>
          <a:ext cx="3811775" cy="25622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7"/>
          <p:cNvGraphicFramePr/>
          <p:nvPr/>
        </p:nvGraphicFramePr>
        <p:xfrm>
          <a:off x="3885642" y="1362301"/>
          <a:ext cx="4046137" cy="2621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7"/>
          <p:cNvGraphicFramePr/>
          <p:nvPr/>
        </p:nvGraphicFramePr>
        <p:xfrm>
          <a:off x="7817898" y="1390609"/>
          <a:ext cx="3938954" cy="26212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p:cNvGraphicFramePr/>
          <p:nvPr/>
        </p:nvGraphicFramePr>
        <p:xfrm>
          <a:off x="1936123" y="3962846"/>
          <a:ext cx="3938954" cy="26212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7"/>
          <p:cNvGraphicFramePr/>
          <p:nvPr/>
        </p:nvGraphicFramePr>
        <p:xfrm>
          <a:off x="6025942" y="3922380"/>
          <a:ext cx="3938954" cy="2621240"/>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p:cNvSpPr txBox="1"/>
          <p:nvPr/>
        </p:nvSpPr>
        <p:spPr>
          <a:xfrm>
            <a:off x="1369926" y="3890030"/>
            <a:ext cx="2733152" cy="369332"/>
          </a:xfrm>
          <a:prstGeom prst="rect">
            <a:avLst/>
          </a:prstGeom>
          <a:noFill/>
        </p:spPr>
        <p:txBody>
          <a:bodyPr wrap="square" rtlCol="0">
            <a:spAutoFit/>
          </a:bodyPr>
          <a:lstStyle/>
          <a:p>
            <a:r>
              <a:rPr lang="en-US" dirty="0"/>
              <a:t>MATERIAL </a:t>
            </a:r>
            <a:endParaRPr lang="en-IN" dirty="0"/>
          </a:p>
        </p:txBody>
      </p:sp>
      <p:sp>
        <p:nvSpPr>
          <p:cNvPr id="11" name="TextBox 10"/>
          <p:cNvSpPr txBox="1"/>
          <p:nvPr/>
        </p:nvSpPr>
        <p:spPr>
          <a:xfrm>
            <a:off x="5580744" y="3878555"/>
            <a:ext cx="2733152" cy="369332"/>
          </a:xfrm>
          <a:prstGeom prst="rect">
            <a:avLst/>
          </a:prstGeom>
          <a:noFill/>
        </p:spPr>
        <p:txBody>
          <a:bodyPr wrap="square" rtlCol="0">
            <a:spAutoFit/>
          </a:bodyPr>
          <a:lstStyle/>
          <a:p>
            <a:r>
              <a:rPr lang="en-US" dirty="0"/>
              <a:t>PRICE</a:t>
            </a:r>
            <a:endParaRPr lang="en-IN" dirty="0"/>
          </a:p>
        </p:txBody>
      </p:sp>
      <p:sp>
        <p:nvSpPr>
          <p:cNvPr id="12" name="TextBox 11"/>
          <p:cNvSpPr txBox="1"/>
          <p:nvPr/>
        </p:nvSpPr>
        <p:spPr>
          <a:xfrm>
            <a:off x="9107086" y="3949002"/>
            <a:ext cx="2733152" cy="369332"/>
          </a:xfrm>
          <a:prstGeom prst="rect">
            <a:avLst/>
          </a:prstGeom>
          <a:noFill/>
        </p:spPr>
        <p:txBody>
          <a:bodyPr wrap="square" rtlCol="0">
            <a:spAutoFit/>
          </a:bodyPr>
          <a:lstStyle/>
          <a:p>
            <a:r>
              <a:rPr lang="en-US" dirty="0"/>
              <a:t>BATTERY LIFE</a:t>
            </a:r>
            <a:endParaRPr lang="en-IN" dirty="0"/>
          </a:p>
        </p:txBody>
      </p:sp>
      <p:sp>
        <p:nvSpPr>
          <p:cNvPr id="13" name="TextBox 12"/>
          <p:cNvSpPr txBox="1"/>
          <p:nvPr/>
        </p:nvSpPr>
        <p:spPr>
          <a:xfrm>
            <a:off x="3312747" y="6482458"/>
            <a:ext cx="2733152" cy="369332"/>
          </a:xfrm>
          <a:prstGeom prst="rect">
            <a:avLst/>
          </a:prstGeom>
          <a:noFill/>
        </p:spPr>
        <p:txBody>
          <a:bodyPr wrap="square" rtlCol="0">
            <a:spAutoFit/>
          </a:bodyPr>
          <a:lstStyle/>
          <a:p>
            <a:r>
              <a:rPr lang="en-US" dirty="0"/>
              <a:t>COLOUR </a:t>
            </a:r>
            <a:endParaRPr lang="en-IN" dirty="0"/>
          </a:p>
        </p:txBody>
      </p:sp>
      <p:sp>
        <p:nvSpPr>
          <p:cNvPr id="14" name="TextBox 13"/>
          <p:cNvSpPr txBox="1"/>
          <p:nvPr/>
        </p:nvSpPr>
        <p:spPr>
          <a:xfrm>
            <a:off x="7382609" y="6385576"/>
            <a:ext cx="2733152" cy="368300"/>
          </a:xfrm>
          <a:prstGeom prst="rect">
            <a:avLst/>
          </a:prstGeom>
          <a:noFill/>
        </p:spPr>
        <p:txBody>
          <a:bodyPr wrap="square" rtlCol="0">
            <a:spAutoFit/>
          </a:bodyPr>
          <a:lstStyle/>
          <a:p>
            <a:r>
              <a:rPr lang="en-US" dirty="0"/>
              <a:t>PRODUCT USAGE </a:t>
            </a:r>
            <a:endParaRPr lang="en-IN"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
          <p:cNvSpPr>
            <a:spLocks noGrp="1"/>
          </p:cNvSpPr>
          <p:nvPr/>
        </p:nvSpPr>
        <p:spPr>
          <a:xfrm>
            <a:off x="838200" y="-237776"/>
            <a:ext cx="10515600" cy="1325562"/>
          </a:xfrm>
          <a:prstGeom prst="rect">
            <a:avLst/>
          </a:prstGeom>
          <a:noFill/>
          <a:ln>
            <a:noFill/>
          </a:ln>
        </p:spPr>
        <p:txBody>
          <a:bodyPr vert="horz" lIns="91440" tIns="45720" rIns="91440" bIns="45720" anchor="ctr"/>
          <a:lstStyle>
            <a:lvl1pPr marL="0" indent="0" algn="l" rtl="0" eaLnBrk="1" fontAlgn="base" latinLnBrk="0" hangingPunct="1">
              <a:lnSpc>
                <a:spcPct val="90000"/>
              </a:lnSpc>
              <a:spcBef>
                <a:spcPct val="0"/>
              </a:spcBef>
              <a:spcAft>
                <a:spcPct val="0"/>
              </a:spcAft>
              <a:buFontTx/>
              <a:buNone/>
              <a:defRPr sz="4400" b="0" i="0" u="none" baseline="0">
                <a:solidFill>
                  <a:schemeClr val="dk1"/>
                </a:solidFill>
                <a:latin typeface="Calibri Light" panose="020F0302020204030204" pitchFamily="34" charset="0"/>
                <a:sym typeface="Calibri" panose="020F0502020204030204" pitchFamily="34" charset="0"/>
              </a:defRPr>
            </a:lvl1pPr>
          </a:lstStyle>
          <a:p>
            <a:pPr lvl="0" algn="ctr"/>
            <a:r>
              <a:rPr lang="en-IN" altLang="en-US" sz="4000" b="1" u="sng" dirty="0">
                <a:latin typeface="Times New Roman" panose="02020603050405020304" pitchFamily="18" charset="0"/>
                <a:ea typeface="Times New Roman" panose="02020603050405020304" pitchFamily="18" charset="0"/>
              </a:rPr>
              <a:t>NPTEL CERTIFICATIONS</a:t>
            </a:r>
          </a:p>
        </p:txBody>
      </p:sp>
      <p:pic>
        <p:nvPicPr>
          <p:cNvPr id="44" name="Picture 4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0728" y="1410970"/>
            <a:ext cx="5630545" cy="4036060"/>
          </a:xfrm>
          <a:prstGeom prst="rect">
            <a:avLst/>
          </a:prstGeom>
        </p:spPr>
      </p:pic>
      <p:pic>
        <p:nvPicPr>
          <p:cNvPr id="36" name="Picture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3265" y="1456055"/>
            <a:ext cx="5665470" cy="39458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Rectangle 4"/>
          <p:cNvSpPr/>
          <p:nvPr/>
        </p:nvSpPr>
        <p:spPr>
          <a:xfrm>
            <a:off x="3251200" y="2612141"/>
            <a:ext cx="5689600" cy="1108075"/>
          </a:xfrm>
          <a:prstGeom prst="rect">
            <a:avLst/>
          </a:prstGeom>
          <a:noFill/>
          <a:ln>
            <a:noFill/>
          </a:ln>
        </p:spPr>
        <p:txBody>
          <a:bodyPr vert="horz" wrap="none" lIns="91440" tIns="45720" rIns="91440" bIns="45720" anchor="t">
            <a:spAutoFit/>
          </a:bodyP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anose="020F0502020204030204" pitchFamily="34" charset="0"/>
                <a:sym typeface="Calibri" panose="020F0502020204030204" pitchFamily="34" charset="0"/>
              </a:defRPr>
            </a:lvl5pPr>
          </a:lstStyle>
          <a:p>
            <a:pPr lvl="0" algn="ctr"/>
            <a:r>
              <a:rPr lang="en-US" altLang="en-US" b="1" dirty="0">
                <a:latin typeface="Times New Roman" panose="02020603050405020304" pitchFamily="18" charset="0"/>
                <a:ea typeface="Times New Roman" panose="02020603050405020304" pitchFamily="18" charset="0"/>
              </a:rPr>
              <a:t> </a:t>
            </a:r>
            <a:r>
              <a:rPr lang="en-US" altLang="en-US" sz="6600" b="1" dirty="0">
                <a:latin typeface="Times New Roman" panose="02020603050405020304" pitchFamily="18" charset="0"/>
                <a:ea typeface="Times New Roman" panose="02020603050405020304" pitchFamily="18" charset="0"/>
              </a:rPr>
              <a:t>THANK YOU!</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35*32"/>
  <p:tag name="TABLE_ENDDRAG_RECT" val="62*439*835*32"/>
</p:tagLst>
</file>

<file path=ppt/theme/theme1.xml><?xml version="1.0" encoding="utf-8"?>
<a:theme xmlns:a="http://schemas.openxmlformats.org/drawingml/2006/main" name="Office 主题">
  <a:themeElements>
    <a:clrScheme name="Default Color Scheme">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968</Words>
  <Application>Microsoft Office PowerPoint</Application>
  <PresentationFormat>Widescreen</PresentationFormat>
  <Paragraphs>97</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宋体</vt:lpstr>
      <vt:lpstr>宋体</vt:lpstr>
      <vt:lpstr>Arial</vt:lpstr>
      <vt:lpstr>Calibri</vt:lpstr>
      <vt:lpstr>Calibri Light</vt:lpstr>
      <vt:lpstr>Times New Roman</vt:lpstr>
      <vt:lpstr>Office 主题</vt:lpstr>
      <vt:lpstr>PowerPoint Presentation</vt:lpstr>
      <vt:lpstr>PROBLEM STATEMENT</vt:lpstr>
      <vt:lpstr>EXISTING PRODUCT DETAIL</vt:lpstr>
      <vt:lpstr>SOLUTION (OR) PROPOSED DESIGN</vt:lpstr>
      <vt:lpstr>VALUE PROPORTION</vt:lpstr>
      <vt:lpstr>DESIGN</vt:lpstr>
      <vt:lpstr>PowerPoint Presentation</vt:lpstr>
      <vt:lpstr>PowerPoint Presentation</vt:lpstr>
      <vt:lpstr>WORKING OF INVENTION</vt:lpstr>
      <vt:lpstr>PowerPoint Presentation</vt:lpstr>
      <vt:lpstr>FLOWCHART</vt:lpstr>
      <vt:lpstr> REVENUE MODEL </vt:lpstr>
      <vt:lpstr>TARGET MARKETING</vt:lpstr>
      <vt:lpstr>MARKETING STRATEGY</vt:lpstr>
      <vt:lpstr>SURVEY REPORT</vt:lpstr>
      <vt:lpstr>HIGHLIGHTED SURVEY REPORT </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HEATING FEEDER</dc:title>
  <dc:creator>niranjan NJ</dc:creator>
  <cp:lastModifiedBy>Microsoft account</cp:lastModifiedBy>
  <cp:revision>62</cp:revision>
  <dcterms:created xsi:type="dcterms:W3CDTF">2023-03-21T03:28:00Z</dcterms:created>
  <dcterms:modified xsi:type="dcterms:W3CDTF">2026-08-05T16:15:24Z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8A5AA70E769E45A68F3683168C81404D_13</vt:lpwstr>
  </property>
  <property fmtid="{D5CDD505-2E9C-101B-9397-08002B2CF9AE}" pid="3" name="KSOProductBuildVer">
    <vt:lpwstr>1033-12.2.0.23155</vt:lpwstr>
  </property>
</Properties>
</file>